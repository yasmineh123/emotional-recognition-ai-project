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384" r:id="rId2"/>
    <p:sldId id="265" r:id="rId3"/>
    <p:sldId id="385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401" r:id="rId19"/>
    <p:sldId id="402" r:id="rId20"/>
    <p:sldId id="403" r:id="rId21"/>
    <p:sldId id="404" r:id="rId22"/>
    <p:sldId id="406" r:id="rId23"/>
    <p:sldId id="407" r:id="rId24"/>
    <p:sldId id="408" r:id="rId25"/>
    <p:sldId id="409" r:id="rId26"/>
    <p:sldId id="410" r:id="rId27"/>
    <p:sldId id="411" r:id="rId28"/>
    <p:sldId id="412" r:id="rId29"/>
    <p:sldId id="413" r:id="rId30"/>
    <p:sldId id="414" r:id="rId31"/>
    <p:sldId id="415" r:id="rId32"/>
    <p:sldId id="416" r:id="rId33"/>
    <p:sldId id="417" r:id="rId34"/>
    <p:sldId id="418" r:id="rId35"/>
    <p:sldId id="419" r:id="rId36"/>
    <p:sldId id="420" r:id="rId37"/>
    <p:sldId id="421" r:id="rId38"/>
    <p:sldId id="422" r:id="rId39"/>
    <p:sldId id="423" r:id="rId40"/>
    <p:sldId id="424" r:id="rId41"/>
    <p:sldId id="42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F0F77-96A9-4BE0-9A3D-82702DA395A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30080-5876-45F7-8129-5896BB57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34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E7128F6E-1864-E57E-CBDC-9BCB62DC4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>
            <a:extLst>
              <a:ext uri="{FF2B5EF4-FFF2-40B4-BE49-F238E27FC236}">
                <a16:creationId xmlns:a16="http://schemas.microsoft.com/office/drawing/2014/main" id="{C36E24D0-D0C8-59F0-A254-AD511D5205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4:notes">
            <a:extLst>
              <a:ext uri="{FF2B5EF4-FFF2-40B4-BE49-F238E27FC236}">
                <a16:creationId xmlns:a16="http://schemas.microsoft.com/office/drawing/2014/main" id="{82662545-F273-15B1-5BA0-1C050CD58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p4:notes">
            <a:extLst>
              <a:ext uri="{FF2B5EF4-FFF2-40B4-BE49-F238E27FC236}">
                <a16:creationId xmlns:a16="http://schemas.microsoft.com/office/drawing/2014/main" id="{731F424B-DDE4-E968-AFFB-4E51BD5838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0065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EC079517-18F7-276D-3480-0354BA9D1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>
            <a:extLst>
              <a:ext uri="{FF2B5EF4-FFF2-40B4-BE49-F238E27FC236}">
                <a16:creationId xmlns:a16="http://schemas.microsoft.com/office/drawing/2014/main" id="{137F7DF9-D06E-E683-6BFE-9002BDB196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4:notes">
            <a:extLst>
              <a:ext uri="{FF2B5EF4-FFF2-40B4-BE49-F238E27FC236}">
                <a16:creationId xmlns:a16="http://schemas.microsoft.com/office/drawing/2014/main" id="{09FB552F-31AE-0D5C-92BF-64C8315FD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p4:notes">
            <a:extLst>
              <a:ext uri="{FF2B5EF4-FFF2-40B4-BE49-F238E27FC236}">
                <a16:creationId xmlns:a16="http://schemas.microsoft.com/office/drawing/2014/main" id="{462BA0FF-6476-E276-9048-ADA7116496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1223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DFA6C-1659-41CB-53F7-27A124B1E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9D792-86A6-52E4-6B9F-D2D749E30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E7E3C-3543-7353-7B5E-012FD00A5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5A8A-2891-4C00-9090-3398A3987C6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3FC2F-5063-98DB-A1E0-BCD96C681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A1344-642F-A36E-94AB-B330E9C6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774C-9F22-4BE1-88DA-FDA70509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7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7A19B-B51F-DB4E-779C-D8D6350C3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D5BBE-F2C1-8871-ABF1-6B6A3CCA3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6C344-81DF-F397-51BC-DCA9D73F8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5A8A-2891-4C00-9090-3398A3987C6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BE6A6-7BD7-FC1A-2828-48A61A9D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9D3C7-8259-5CC5-454E-08251DA0E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774C-9F22-4BE1-88DA-FDA70509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119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0FC5-5382-E6A9-67EE-CE56D114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83EF2-BFB0-9730-029E-27BD74108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9D138-B219-693B-87F3-03C50C25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5A8A-2891-4C00-9090-3398A3987C6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6BF42-C586-BA0F-26A1-A664438F0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764F9-7310-9A03-240A-9458BD96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774C-9F22-4BE1-88DA-FDA70509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628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22185-1DF8-45F5-50E7-7329A4B82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94DE7-C96E-74A5-70E6-03390F5B3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9D3E1-5874-A389-C5E2-8308E5C9A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5AC58-E2B7-40E1-7831-ABD501E58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5A8A-2891-4C00-9090-3398A3987C6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D1DE0-E248-E28B-E4A1-619FF1C8F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4A107-542B-A616-B149-661A4BF8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774C-9F22-4BE1-88DA-FDA70509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773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92AC-7B52-34A9-0407-1F2A0B28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73952-42FE-BDFA-FBEA-A5596F516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A08F1-1158-95E2-1E08-43BCE6A9D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3348B-211C-AAA6-3213-FE68E4869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F01D90-5923-D1DB-8B8B-4CB69C6AEB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D1E50A-F14A-F2D7-867C-1ECB6A76D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5A8A-2891-4C00-9090-3398A3987C6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0F8098-C52B-9476-C785-3FD378D96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47CDB-8243-3674-A26A-069BDF49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774C-9F22-4BE1-88DA-FDA70509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62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FF082-8B5A-3FA8-8BB1-CE4B28C3F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6E6246-1684-8EF4-415A-CA25DC81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5A8A-2891-4C00-9090-3398A3987C6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19867-3642-DB97-BBD4-066B40230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47BA98-16D0-83EC-571F-F6EC1DC4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774C-9F22-4BE1-88DA-FDA70509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269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391350-9EA9-15F9-9F80-3CD8A0D1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5A8A-2891-4C00-9090-3398A3987C6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C088F8-A477-EF5D-2ED8-7225539BD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93F1F-363C-C47F-3C3D-D4A0032C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774C-9F22-4BE1-88DA-FDA70509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07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945E-54B3-6A3B-3808-76372228D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AE0DD-B07D-9361-580B-1D18999A5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D7816-ACEA-CC94-B152-737238AF2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25972-2617-8B6C-6584-34EA15758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5A8A-2891-4C00-9090-3398A3987C6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811A4-531B-BFCF-4FCC-E7458B48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0E706-191C-7F26-F574-AEB624BD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774C-9F22-4BE1-88DA-FDA70509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813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89583-417F-5595-4117-FD33EB4B0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5BF34-B1B5-59BA-C21B-CDBCF2328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DD6C7A-5386-D469-8481-FF9A963B5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A5219-D615-C736-903E-B2E6BF9F2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5A8A-2891-4C00-9090-3398A3987C6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CEFDD-110A-0AA1-E19E-8D44C987F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8B52D-D821-9496-EE24-A39BF906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774C-9F22-4BE1-88DA-FDA70509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941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D0311-D021-DAFA-3B3B-EA659CEE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75AF0-EEEC-1ACB-AE4E-F2337FC1C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0A7BC-674D-B4D9-3231-B4C8CB042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5A8A-2891-4C00-9090-3398A3987C6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C7A76-117B-1E0B-6242-054481462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832F1-B96D-29F5-A121-FB104372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774C-9F22-4BE1-88DA-FDA70509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9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29BBB8-6C06-9774-6ED4-A70F4DA30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E52D5-F1CE-2BE8-B46B-EE1D05D7F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765DA-56DC-AE81-2607-1B1F7CC86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5A8A-2891-4C00-9090-3398A3987C6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026FB-4FF3-0F83-F390-6D3288AA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1122A-0B9E-A23C-1E7A-9E58C8AE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774C-9F22-4BE1-88DA-FDA70509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01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D15B56-1E27-6D9A-EE2E-6A6F94B13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BD003-BA93-1EAB-0953-93186C38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76FD2-F470-C2F4-170B-2DBFB70FB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F5A8A-2891-4C00-9090-3398A3987C6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DF0F4-4D07-55F1-1C29-142E6E954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B9E19-6C14-2794-A206-C8CA45FF9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2774C-9F22-4BE1-88DA-FDA70509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3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3.sv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E1DFD56D-0F65-F31A-6903-FBE277EA5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">
            <a:extLst>
              <a:ext uri="{FF2B5EF4-FFF2-40B4-BE49-F238E27FC236}">
                <a16:creationId xmlns:a16="http://schemas.microsoft.com/office/drawing/2014/main" id="{4A034616-573B-C5AD-E22C-A60B1671AABC}"/>
              </a:ext>
            </a:extLst>
          </p:cNvPr>
          <p:cNvSpPr txBox="1"/>
          <p:nvPr/>
        </p:nvSpPr>
        <p:spPr>
          <a:xfrm>
            <a:off x="841609" y="1766893"/>
            <a:ext cx="250140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CAPSTONE PRESENTATION</a:t>
            </a:r>
          </a:p>
        </p:txBody>
      </p:sp>
      <p:sp>
        <p:nvSpPr>
          <p:cNvPr id="232" name="Google Shape;232;p4">
            <a:extLst>
              <a:ext uri="{FF2B5EF4-FFF2-40B4-BE49-F238E27FC236}">
                <a16:creationId xmlns:a16="http://schemas.microsoft.com/office/drawing/2014/main" id="{08CECD79-F0C0-A6B4-85BA-6E8F85939EE4}"/>
              </a:ext>
            </a:extLst>
          </p:cNvPr>
          <p:cNvSpPr txBox="1"/>
          <p:nvPr/>
        </p:nvSpPr>
        <p:spPr>
          <a:xfrm>
            <a:off x="841609" y="2064295"/>
            <a:ext cx="665324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ajawal Black"/>
                <a:ea typeface="Tajawal Black"/>
                <a:cs typeface="Tajawal Black"/>
                <a:sym typeface="Tajawal Black"/>
              </a:rPr>
              <a:t>ARTIFICIAL INTELLIGENCE</a:t>
            </a:r>
            <a:r>
              <a:rPr lang="en-US" sz="2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Black"/>
                <a:ea typeface="Tajawal Black"/>
                <a:cs typeface="Tajawal Black"/>
                <a:sym typeface="Tajawal Black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ajawal Black"/>
                <a:ea typeface="Tajawal Black"/>
                <a:cs typeface="Tajawal Black"/>
                <a:sym typeface="Tajawal Black"/>
              </a:rPr>
              <a:t>BOOTCAMP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ajawal" panose="00000500000000000000" pitchFamily="2" charset="-78"/>
                <a:ea typeface="Tajawal Black"/>
                <a:cs typeface="Tajawal" panose="00000500000000000000" pitchFamily="2" charset="-78"/>
                <a:sym typeface="Tajawal Black"/>
              </a:rPr>
              <a:t>2025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  <a:sym typeface="Arial"/>
            </a:endParaRPr>
          </a:p>
        </p:txBody>
      </p:sp>
      <p:sp>
        <p:nvSpPr>
          <p:cNvPr id="234" name="Google Shape;234;p4">
            <a:extLst>
              <a:ext uri="{FF2B5EF4-FFF2-40B4-BE49-F238E27FC236}">
                <a16:creationId xmlns:a16="http://schemas.microsoft.com/office/drawing/2014/main" id="{B29BDB71-D0D1-3453-812E-1326D92BAD37}"/>
              </a:ext>
            </a:extLst>
          </p:cNvPr>
          <p:cNvSpPr txBox="1"/>
          <p:nvPr/>
        </p:nvSpPr>
        <p:spPr>
          <a:xfrm>
            <a:off x="841609" y="5916845"/>
            <a:ext cx="48382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Saida, 3 October 2025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35D42E-C797-F285-15BA-07241FF902C7}"/>
              </a:ext>
            </a:extLst>
          </p:cNvPr>
          <p:cNvGrpSpPr/>
          <p:nvPr/>
        </p:nvGrpSpPr>
        <p:grpSpPr>
          <a:xfrm>
            <a:off x="881873" y="263973"/>
            <a:ext cx="10428254" cy="1062165"/>
            <a:chOff x="881873" y="263973"/>
            <a:chExt cx="10428254" cy="1062165"/>
          </a:xfrm>
        </p:grpSpPr>
        <p:pic>
          <p:nvPicPr>
            <p:cNvPr id="226" name="Google Shape;226;p4" descr="Our Leadership – Hariri Foundation">
              <a:extLst>
                <a:ext uri="{FF2B5EF4-FFF2-40B4-BE49-F238E27FC236}">
                  <a16:creationId xmlns:a16="http://schemas.microsoft.com/office/drawing/2014/main" id="{ED7E8A32-D1DF-1D53-FD01-0A9E5B66B4F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1873" y="502498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ACF376DC-23D2-62DB-1150-E80F29B60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66087" y="630760"/>
              <a:ext cx="1844040" cy="4191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7ECAF86-40E5-1465-77BA-592568510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1243" y="263973"/>
              <a:ext cx="2934603" cy="1062165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9082D9F-CA7F-6C49-175D-9DE1D5E47A36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56"/>
          <a:stretch>
            <a:fillRect/>
          </a:stretch>
        </p:blipFill>
        <p:spPr>
          <a:xfrm>
            <a:off x="9309574" y="1174182"/>
            <a:ext cx="5764852" cy="7658711"/>
          </a:xfrm>
          <a:prstGeom prst="rect">
            <a:avLst/>
          </a:prstGeom>
        </p:spPr>
      </p:pic>
      <p:sp>
        <p:nvSpPr>
          <p:cNvPr id="5" name="Google Shape;229;p4">
            <a:extLst>
              <a:ext uri="{FF2B5EF4-FFF2-40B4-BE49-F238E27FC236}">
                <a16:creationId xmlns:a16="http://schemas.microsoft.com/office/drawing/2014/main" id="{ED60CCEF-E2AD-5B03-875D-4D58240067A8}"/>
              </a:ext>
            </a:extLst>
          </p:cNvPr>
          <p:cNvSpPr txBox="1"/>
          <p:nvPr/>
        </p:nvSpPr>
        <p:spPr>
          <a:xfrm>
            <a:off x="841609" y="2890411"/>
            <a:ext cx="801905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lang="en-US" sz="3200" kern="0" dirty="0">
                <a:solidFill>
                  <a:srgbClr val="C00000"/>
                </a:solidFill>
                <a:latin typeface="Tajawal ExtraBold" panose="00000800000000000000" pitchFamily="2" charset="-78"/>
                <a:ea typeface="Tajawal Medium"/>
                <a:cs typeface="Tajawal ExtraBold" panose="00000800000000000000" pitchFamily="2" charset="-78"/>
                <a:sym typeface="Tajawal Medium"/>
              </a:rPr>
              <a:t>Emotional Speech Detector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38623-AE97-2895-C5A5-AD322F8FF25E}"/>
              </a:ext>
            </a:extLst>
          </p:cNvPr>
          <p:cNvSpPr txBox="1"/>
          <p:nvPr/>
        </p:nvSpPr>
        <p:spPr>
          <a:xfrm>
            <a:off x="841609" y="4341819"/>
            <a:ext cx="48382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Reem Basho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Yasmine Hariri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jawal" panose="00000500000000000000" pitchFamily="2" charset="-78"/>
              <a:ea typeface="+mn-ea"/>
              <a:cs typeface="Tajawal" panose="00000500000000000000" pitchFamily="2" charset="-7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Rand Al Yaman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" panose="00000500000000000000" pitchFamily="2" charset="-78"/>
                <a:ea typeface="+mn-ea"/>
                <a:cs typeface="Tajawal" panose="00000500000000000000" pitchFamily="2" charset="-78"/>
              </a:rPr>
              <a:t>Mahdi Dagher</a:t>
            </a:r>
          </a:p>
        </p:txBody>
      </p:sp>
    </p:spTree>
    <p:extLst>
      <p:ext uri="{BB962C8B-B14F-4D97-AF65-F5344CB8AC3E}">
        <p14:creationId xmlns:p14="http://schemas.microsoft.com/office/powerpoint/2010/main" val="15954528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D850C-F7A0-D8B2-DE1D-7F64527F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017976-C248-75F4-7120-5429B185E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742" y="1648446"/>
            <a:ext cx="4653130" cy="39754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EF15600-AC28-2F91-4AB0-0A38421B2510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B445DF-4C4B-906F-F6EF-64348EDB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107519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Project Overview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58424C7-107D-7D66-CAC3-CBEA8351A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84" y="1825625"/>
            <a:ext cx="6136541" cy="3822821"/>
          </a:xfrm>
        </p:spPr>
        <p:txBody>
          <a:bodyPr>
            <a:normAutofit fontScale="92500" lnSpcReduction="10000"/>
          </a:bodyPr>
          <a:lstStyle/>
          <a:p>
            <a:pPr marL="0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Light" panose="00000400000000000000" pitchFamily="2" charset="-78"/>
                <a:cs typeface="Tajawal Light" panose="00000400000000000000" pitchFamily="2" charset="-78"/>
              </a:rPr>
              <a:t>Goal: Detect emotions from speech.</a:t>
            </a:r>
          </a:p>
          <a:p>
            <a:pPr marL="0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Light" panose="00000400000000000000" pitchFamily="2" charset="-78"/>
                <a:cs typeface="Tajawal Light" panose="00000400000000000000" pitchFamily="2" charset="-78"/>
              </a:rPr>
              <a:t>How: Used speech features (MFCC) with machine learning and deep learning models.</a:t>
            </a:r>
          </a:p>
          <a:p>
            <a:pPr marL="0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Light" panose="00000400000000000000" pitchFamily="2" charset="-78"/>
                <a:cs typeface="Tajawal Light" panose="00000400000000000000" pitchFamily="2" charset="-78"/>
              </a:rPr>
              <a:t>Why: Useful for virtual assistants, call centers, and mental health support.</a:t>
            </a:r>
          </a:p>
          <a:p>
            <a:pPr marL="0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Light" panose="00000400000000000000" pitchFamily="2" charset="-78"/>
                <a:cs typeface="Tajawal Light" panose="00000400000000000000" pitchFamily="2" charset="-78"/>
              </a:rPr>
              <a:t>Challenge: Emotions are difficult for computers to understand and classify.</a:t>
            </a:r>
          </a:p>
          <a:p>
            <a:pPr marL="0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Light" panose="00000400000000000000" pitchFamily="2" charset="-78"/>
                <a:cs typeface="Tajawal Light" panose="00000400000000000000" pitchFamily="2" charset="-78"/>
              </a:rPr>
              <a:t>Importance: Helps improve human-computer interaction and real-life applications.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37DEE10-7F76-758E-D73E-1057CB115FCA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141F3077-6D1C-1E6F-1093-27887E64BED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2FEC1DF-E409-5C78-62AB-1B39454D9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69AE845-9DB2-2925-087F-D7B63AF9B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0655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A069F-F4C0-FA25-A6FC-DC07051A1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5493C00-BE8E-FDAE-D719-9EE1C051C76F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91A774-9C73-3668-0B66-130A4206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107519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Outline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D98C4D-0673-96BD-3750-E52EF49C7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84" y="2325914"/>
            <a:ext cx="8614687" cy="22061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Methodology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Implementation and 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Model Demonstration and Future Vision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D6546B9-DD97-04F8-472F-E029889596FD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F5CCE26D-31A6-12E7-283B-FBC3F5E1404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4DDAE025-96D9-877A-2882-6B6A836FC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D6F6785-7F85-A298-E663-71AB0EF15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64135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515A8-B407-6814-4415-FA95A2997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0B2D2D6-6783-36D6-3FEC-77ABC969477B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C7DFCE-31FA-9E88-CC3D-5C08E355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107519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1.   Introduction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F092F7-71BB-902D-B9C6-61D98F9F1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84" y="2325914"/>
            <a:ext cx="8614687" cy="3058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1.1   Importance of Emotional Speech Detection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1.2   Problems and Challenges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1.3   Objectives of the project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1.4   Literature Gap and Novelty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1.5   Contributions of this project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51C44E5-0944-6BA5-7C90-73CC2CEED90B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89CD492D-9BDD-435A-6A24-CA75A5913E2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4B06DAA2-9258-93C6-F9D7-32583FC47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6B3F781-5E91-4DB3-389B-99D49813A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64860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7E6A7-FAB4-4CDB-2BFF-4891EF901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DE4C4A8-4FBF-AF98-41D0-44A5DEBA9E44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E522DC-3996-EFC9-43EA-DE24BDD09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107519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2.   Methodology: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2F9DDED-56D6-40E6-9D1B-CBB3093C5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84" y="2325914"/>
            <a:ext cx="8614687" cy="1549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Material, Software, and Equipment used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Preprocessing Pipeline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Datasets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C80951B-A23A-9C37-BA5C-C4C5917F2E33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CC5402F1-37BD-66BD-0500-7625EE48C6C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5F90667B-9CE6-B2EA-7215-D8CCC8238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EBA6D6F-8BAD-A0E3-4D3D-FEA039A3C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03128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05B75-331C-F55F-B961-F23C452AD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A8B40049-3915-E293-2535-89362E45F18A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CC08EA-B826-077E-E48C-CB28B30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107519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2.1   Material, Software, and Equipment used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237BBC-DDC8-3220-6EE8-55701AB8E6C3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C9011BB5-3A28-C340-7F84-A13C6CA3071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1E2CA61-A556-3BD0-DEC8-9765FA7C6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E3E4C4F-4809-3A86-0FB8-632749477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C7DD9DC-50D4-E005-7532-D0F33E27D3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359" y="1567051"/>
            <a:ext cx="1543549" cy="8836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64CD4C-78C7-37A9-B4E1-C450AD5B49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199" y="4909931"/>
            <a:ext cx="1239551" cy="123955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369C8CC-B957-0CDE-2E76-0126F1B952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7842" y="1492703"/>
            <a:ext cx="2168749" cy="8885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5F5C2E-EA6B-3D65-FC9F-1AAAAB5C7A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983" y="1156377"/>
            <a:ext cx="1692647" cy="17779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7C4380-981A-F147-C157-9868514331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392" y="2934282"/>
            <a:ext cx="2502350" cy="7124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15BFB3-2481-9D5E-8EA0-71C075CA9E7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332" y="2915358"/>
            <a:ext cx="3438692" cy="7502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59C27D-9AE5-78FD-2B0C-D68EEA3F29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894" y="4985238"/>
            <a:ext cx="1828131" cy="9861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0D30E7-CC91-C41D-757C-0C4BBEFFA6D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392" y="4216705"/>
            <a:ext cx="2502350" cy="50047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DF1409B-4320-6999-EBED-3B8BE82A4FA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0332" y="3928765"/>
            <a:ext cx="2749060" cy="7884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373218-081C-2F0D-E708-20C2D4A082C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581" y="3705958"/>
            <a:ext cx="968905" cy="10401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60BDCE9-C2B2-CCB6-A8EF-8939FF3C7AE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706" y="5143185"/>
            <a:ext cx="2856014" cy="82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02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E03CA-C542-4AF7-9DB7-3E82DCB74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4CF5E7B-8ABF-99D2-531C-B661F931983E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2A7131-6F42-F8B7-C473-9A14CAF9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107519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2.2   Preprocessing Pipeline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D0407A6-F42A-52DD-44A8-54C5DE99A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84" y="1766168"/>
            <a:ext cx="8614687" cy="324126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Standardized to 16 kHz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Removed silence (leading/trailing)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Wiener filtering for noise reduction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HP/LP filtering + peak normalization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Segmented into 3s windows (50% overlap)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Kept utterance segments together (no leakage)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8FF5844-AC9F-7FD8-8F05-43D37A419392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EFE00BD0-D183-F872-1E69-514FA897495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F87F6564-1385-47EA-3A17-DB7F96390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9BF4150-50F8-84A2-E7A8-F7541F97A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49370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BDB58-F705-EDA5-5B23-C7F882FA7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0898DF7A-2C85-28C2-12D5-583EE1954738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9DC6C8-41C6-0FB1-4DFC-CC75A2481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87453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2.3   Datasets: CREMA-D, RAVDESS, and </a:t>
            </a:r>
            <a:r>
              <a:rPr lang="en-US" sz="3200" dirty="0" err="1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EmoDB</a:t>
            </a: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2253724-839D-A6AE-18C0-0838EE6F1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84" y="1925825"/>
            <a:ext cx="6205316" cy="324126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CREMA-D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The CREMA-D dataset is a large, publicly available collection of audio-visual clips from 91 actors, designed for training and evaluating speech emotion recognition (SER) models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0885B22-691D-B7A0-804F-2C6C08147EB4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5EE7B4AB-7749-F27C-769E-43D79239E92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2EFBCF1D-D648-F3AE-3712-0FF868541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1859E98-0990-C459-F1AA-A40F45FAA1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2" name="Picture 1" descr="A screenshot of a computer">
            <a:extLst>
              <a:ext uri="{FF2B5EF4-FFF2-40B4-BE49-F238E27FC236}">
                <a16:creationId xmlns:a16="http://schemas.microsoft.com/office/drawing/2014/main" id="{FE99A2B1-3481-01B3-9B0E-27B4380AFF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" r="24699" b="28924"/>
          <a:stretch>
            <a:fillRect/>
          </a:stretch>
        </p:blipFill>
        <p:spPr>
          <a:xfrm>
            <a:off x="9450065" y="838365"/>
            <a:ext cx="2326399" cy="515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0420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8B992-AF60-15B1-A660-F513D9F40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7380C5A-0B08-BF05-0183-E8B0E7CC2230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4C8D14-DF41-D8D1-4F7E-DEB6090E6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8919487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2.3   Datasets: CREMA-D, RAVDESS, and </a:t>
            </a:r>
            <a:r>
              <a:rPr lang="en-US" sz="3200" dirty="0" err="1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EmoDB</a:t>
            </a: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8B1364B-9E2C-E65F-4D48-405D92487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83" y="1925824"/>
            <a:ext cx="6771373" cy="3850861"/>
          </a:xfrm>
        </p:spPr>
        <p:txBody>
          <a:bodyPr>
            <a:normAutofit/>
          </a:bodyPr>
          <a:lstStyle/>
          <a:p>
            <a:pPr marL="514350" indent="-514350">
              <a:buAutoNum type="arabicPeriod" startAt="2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RAVDESS   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The RAVDESS (Ryerson Audio-Visual Database of Emotional Speech and Song) dataset is a validated multimodal database of emotional speech and song recordings by 24 professional actors (12 male, 12 female).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42EDA81-7A55-B26D-5BAE-D1B182EEBB25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891D3922-2165-FAAC-C545-9F02BD4BA15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20A9E79E-1D70-9E49-C0D2-C7C9D4A30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9FC3F0B-6352-C9F8-3248-FD3DF5B3C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4" name="Picture 3" descr="A screenshot of a phone&#10;&#10;Description automatically generated">
            <a:extLst>
              <a:ext uri="{FF2B5EF4-FFF2-40B4-BE49-F238E27FC236}">
                <a16:creationId xmlns:a16="http://schemas.microsoft.com/office/drawing/2014/main" id="{445C2167-B329-931E-31C9-233B1C4BFC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012" b="16118"/>
          <a:stretch>
            <a:fillRect/>
          </a:stretch>
        </p:blipFill>
        <p:spPr>
          <a:xfrm>
            <a:off x="9734075" y="586209"/>
            <a:ext cx="1956046" cy="540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9421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75F81-9A3F-A0B8-6E24-69F003F07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B9D1162-829C-458A-A439-79251B7E557D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DE86DB-71D9-1EFD-8B1E-7409BFE2C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8949691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2.3   Datasets: CREMA-D, RAVDESS, and </a:t>
            </a:r>
            <a:r>
              <a:rPr lang="en-US" sz="3200" dirty="0" err="1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EmoDB</a:t>
            </a: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315460B-66E4-CD67-ED37-484AF14F5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83" y="1925824"/>
            <a:ext cx="6771373" cy="4067320"/>
          </a:xfrm>
        </p:spPr>
        <p:txBody>
          <a:bodyPr>
            <a:normAutofit/>
          </a:bodyPr>
          <a:lstStyle/>
          <a:p>
            <a:pPr marL="514350" indent="-514350">
              <a:buAutoNum type="arabicPeriod" startAt="3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EmoDB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The EMODB (German Emotional Speech Database) is a widely used German-language dataset of acted emotional speech, created by TU Berlin for analyzing how emotions are expressed in voice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9F48BC2-0805-DDED-38D7-500DFE16590F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D40B3A7D-CCF1-9843-61FE-36AF82A2061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D3538F7C-FBD2-569B-B2EF-397787392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E61CF52-A662-2AD1-EB13-9DE3C8A15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B5162C1-1326-7933-AEC3-D6242EB6CC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1575" y="683068"/>
            <a:ext cx="1802225" cy="531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321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42819-627F-5328-49E7-0E698B1E0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463D8F5-36C9-BAB6-E8BF-DF22C73268E4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39C88A-FB9E-2D54-19FE-92304856E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107519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Data Cleaning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1480F80-0189-1078-B78C-1D8410C9E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40" y="1452346"/>
            <a:ext cx="11357888" cy="4499429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Resampling: All audio resampled to 16 kHz.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Silence Trimming: Removed leading/trailing silence (40 dB threshold).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Noise Reduction: Reduced background noise while keeping speech clear.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Deterministic Cleaning: Standardized length, filtered (60–7800 Hz), removed silence, and normalized amplitude.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Audio Segmentation: Split into overlapping 3-second windows (50% overlap).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06E3DF8-F35D-E803-500B-BE3DF7F531A4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127CDAEC-60B2-2D9B-D782-194707148C0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6194F11-2051-02C0-09F4-57C645DF7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62F409D-AB08-EAA9-067D-EA7DBB3DA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47338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36392-6E12-7668-DAD7-DCE69EB8B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72A4D8DC-C962-9C67-A4EC-54CD7171C2FA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451DE9-804F-4625-109A-7AE2A4CBE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107519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Data Cleaning: Techniques and Approaches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7F5819E-6ED3-ECA5-0242-BD2D58EE9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40" y="2195034"/>
            <a:ext cx="11357888" cy="230685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Feature Extraction: Extracted MFCCs, pitch, and mean MFCCs for modeling emotions.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Modeling Approach: SVM (best), Random Forest (simple), CNN (patterns only), LSTM (needs more data), LSTM+CNN (too complex).</a:t>
            </a:r>
          </a:p>
          <a:p>
            <a:pPr marL="514350" indent="-514350"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3D0FEF0-0CB6-318B-963A-5E129E4F5659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CD9BE2C0-43DC-3EE8-9EE9-BAEF4979B93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4DDE81DA-1AED-F2B2-E63D-D001C3BE8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98FE518-C97B-7019-7BE4-B8BBB271D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5509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D0B73-F1C3-9D5F-37DD-A03A89DC4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1C3A5AFB-EB77-7262-4F8F-7717866CB573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602B72-B3F9-4167-F2D6-3FBE8157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107519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Data Cleaning: Training and Evaluation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A186363-24EE-EEE9-31EE-1D24B2FA790D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FE771445-71D7-8BA0-8145-32FFCF52AA6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6442B7B9-9BF8-F9B0-366C-63D160A04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F007E58-81F7-9BD9-B1A4-B3A8C6267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8F407A4D-5261-DC3F-8A8B-FA0011C47F83}"/>
              </a:ext>
            </a:extLst>
          </p:cNvPr>
          <p:cNvSpPr txBox="1">
            <a:spLocks/>
          </p:cNvSpPr>
          <p:nvPr/>
        </p:nvSpPr>
        <p:spPr>
          <a:xfrm>
            <a:off x="559758" y="1992507"/>
            <a:ext cx="5381616" cy="4742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Training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Input: Audio → Preprocessing (noise removal, normalization)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Feature extraction: MFCCs, Spectrograms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Models trained: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SVM, CNN, LSTM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Data split: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80% training / 20% testing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6D26FA5E-8B3B-6346-55EC-D3844C19CF39}"/>
              </a:ext>
            </a:extLst>
          </p:cNvPr>
          <p:cNvSpPr txBox="1">
            <a:spLocks/>
          </p:cNvSpPr>
          <p:nvPr/>
        </p:nvSpPr>
        <p:spPr>
          <a:xfrm>
            <a:off x="6096000" y="1992507"/>
            <a:ext cx="5381616" cy="38712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Evaluation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Metrics: Accuracy, Precision, Recall, Confusion Matrix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Compared model performances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Best performer: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SVM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 (most consistent accuracy with our dataset size)</a:t>
            </a:r>
          </a:p>
        </p:txBody>
      </p:sp>
    </p:spTree>
    <p:extLst>
      <p:ext uri="{BB962C8B-B14F-4D97-AF65-F5344CB8AC3E}">
        <p14:creationId xmlns:p14="http://schemas.microsoft.com/office/powerpoint/2010/main" val="350755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78FD6-CC3E-4CEC-C0A7-E2FDD4775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F9A3F62-985A-FAE9-323E-1BC46F381A00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59486D-076F-046D-417D-25F40650A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107519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Data Cleaning: Exploratory Data Analysis (EDA)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5DD96E-CEB4-0EB9-2A79-2D1F4518C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502476"/>
            <a:ext cx="11357888" cy="66879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Imbalanced Emotion Distribution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42CAFCA-6CFA-ED4B-629B-9F2D9017932B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8D938BC9-2B0E-48E4-6DD6-8608EE20279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52D372A-7097-D4D5-4AC4-6455596A8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6C0F4F9-2329-AFF9-3248-F861E339B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6F56647-3F34-6FCD-1A80-C5B42323F1A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611" y="2063481"/>
            <a:ext cx="6921764" cy="4086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75280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CCE74-0ED5-42E1-F974-CF82C662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37876DE-210C-030D-135B-9A195A4092C6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57FA00-73A9-139B-8EC3-28B436C4F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107519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Data Cleaning: Exploratory Data Analysis (EDA)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BA398F0-0403-A767-53F3-A9894CE31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502476"/>
            <a:ext cx="11357888" cy="582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2.   Gender 55% male, 45% female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D08E3B1-45D7-22B5-9020-EA928E58A223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8FFD30F9-976E-6CE3-2848-DA45DE38E96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8420A496-8C68-2AA7-F68B-A664BB0D5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1CEFDD7-0736-B5A2-71C8-24D745872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1F9D313-5951-AEF2-8C66-FBCEE61452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242" y="2084895"/>
            <a:ext cx="8471516" cy="39946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87414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C4994-A4D0-6C0E-B1EE-68928EB72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A5ABB90-AFB2-6A96-1C8F-BCEFA2FC332D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544095-6B7A-15F8-64C4-933BFBC7E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107519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Data Cleaning: Exploratory Data Analysis (EDA)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8B33C3-A233-162A-ABDF-8E77E865D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502476"/>
            <a:ext cx="11357888" cy="582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   Pitch: higher in happy/surprise, lower in sad/neutral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A45324E-8DCD-DCA9-D5F6-F8BE71748C0D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5D62FC24-5E20-F826-164C-D9775F66180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89DE525-4051-0A54-77DD-729AAAFB4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D95BC32-53BB-301B-CB8E-E95689C6B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4E0A0ED-E58B-BDBC-9B18-5FBA3F7482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518" y="1923769"/>
            <a:ext cx="7200647" cy="39500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940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18FE-182E-1A00-6C58-B7CE3FD1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10E6E62-FD89-C788-AD32-F2656AFA2ADD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FEC053-EE94-25E1-A5AF-08BE62273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107519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Data Cleaning: Exploratory Data Analysis (EDA)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652EF1C-2E27-1F02-838F-888A80B4D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502476"/>
            <a:ext cx="11357888" cy="582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4.   Energy: higher in angry/happy, lower in sad/calm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AB6A1AA-858E-4E8E-11F8-004D621DA95B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07FCB52E-3A60-51A1-D866-04192A2BFC7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7B7A8838-640E-46B8-DC20-191B1A7D6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5CEF562-F837-C11F-073C-BB12816F1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4" name="Picture 3" descr="A graph of different sizes and colors">
            <a:extLst>
              <a:ext uri="{FF2B5EF4-FFF2-40B4-BE49-F238E27FC236}">
                <a16:creationId xmlns:a16="http://schemas.microsoft.com/office/drawing/2014/main" id="{EE8EF42D-D299-2ABA-76B6-FA73531623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749" y="1983589"/>
            <a:ext cx="7186070" cy="3937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8495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CA0EA-6D84-2246-6E10-02343D03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1645C91-B03C-2706-77CC-3FF7F1E39869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AC0D4A-0336-D04A-9D9D-7F0C63BD7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479288"/>
            <a:ext cx="10751916" cy="97305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   Implementation and Results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7D8F84-A6A0-E4E8-1280-825BB5F8F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966934"/>
            <a:ext cx="11357888" cy="369363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CNN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LSTM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CNN + LSTM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Random Forest Classifier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SVM</a:t>
            </a:r>
          </a:p>
          <a:p>
            <a:pPr marL="514350" indent="-514350"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C9C0B7D-B164-A0E1-79F0-98059AFD4E66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FC75128E-8046-67D6-08E1-5E1F8F4B65B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C3C86B13-E81B-7D6F-9A97-5C14551CC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17F8631-8F09-472C-A65C-8E433D243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23423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7B1EC-E322-F1AA-403A-4862AF8EC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7B2DAC7C-7F5F-88D9-4889-0D9F545A0DAA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4163E2-B036-1ACD-1A7B-6BA70130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358625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3.1   Implementation and Results: Convolutional Neural Network (CNN)</a:t>
            </a:r>
            <a:b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</a:b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4C13E20-656F-52F2-DCDF-483A6746B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40" y="1435197"/>
            <a:ext cx="11357888" cy="544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3.1.1   Training and Validation Performance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2CD8B1D-4232-1411-1A5B-F171A96EE8CF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38F693A2-53DA-743E-510C-5E9607643A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281D7C00-6AC3-8B77-7C9B-6A77696AE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AFA41BE-6FEF-01DE-9D87-71927D0D8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4AB11DA-F42C-A8CC-39F8-19746E2BDBC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514" y="2068399"/>
            <a:ext cx="9537175" cy="38355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7644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C0F19-CE33-4E02-9831-6D2E7D088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AB39F6D-52C7-F7C9-B8B8-6A0FCBE560E7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EFCE05-6D7F-B821-5356-64DE555F3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358625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3.1   Implementation and Results: Convolutional Neural Network (CNN)</a:t>
            </a:r>
            <a:b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</a:b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30A8246-101C-E9FC-6560-C3253E663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84" y="2884963"/>
            <a:ext cx="4245887" cy="544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3.1.2   Confusion Matrix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E5596FA-54CF-9D50-F020-4D8BFB240B43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D3289F26-DB80-9044-CA39-F55000B12C0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2FBED74E-6711-47A7-12D5-DF5B6E7F3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C080C9C-7FFC-10C3-A545-E6518BA63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7C4E86DF-D241-EFFD-1BCB-C27ACC87A8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398" y="904460"/>
            <a:ext cx="6778938" cy="5245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14120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10C43-E209-3C73-B90D-315A466E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BFCDC1BE-0740-0C41-1C0F-D0FE0B469A8F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9F963E-51DC-E80E-B09C-B130AF65F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358625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3.1   Implementation and Results: Convolutional Neural Network (CNN)</a:t>
            </a:r>
            <a:b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</a:b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1C9A4FC-CEFD-6BA5-DF90-609CD961F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656" y="1817179"/>
            <a:ext cx="6321430" cy="44422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3.1.3   Summary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Angry / Sad: Very strong, high accuracy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Happy: Moderate, often confused with Angry &amp; Neutral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Neutral: Weak, misclassified as Sad/Happy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Fear / Disgust: Low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Surprise / Boredom: Very weak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322140-C591-1BB1-7C13-CB736D519EBC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4FE551BA-28CC-4548-5F07-B0AD1A66AC4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32978F9D-F38A-4631-A296-E82EA0FAD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4722AAA-DC80-2C5D-830A-4F9329655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90B0868-7E98-EB66-062A-D16C58985A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826" y="1129372"/>
            <a:ext cx="5589560" cy="4719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77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97613-9296-A916-7BE8-9990D1A4F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B2D900F-2870-F9D2-5F76-29CDCCE461CE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A9423C-22E3-7C92-F1EB-DFB3E8C5B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358625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3.2   Implementation and Results: Long Short-Term Memory (LSTM)</a:t>
            </a:r>
            <a:b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</a:b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FCC501B-556F-98D4-65C2-C90C402F6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656" y="3070708"/>
            <a:ext cx="5726344" cy="670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3.2.1  Hyperparameter Tuning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A3AB7B-F2A5-599C-1F42-2CF1CBE0D0B1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3E702703-8BCE-ED56-EFCE-C92EC1B609E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AA9F3B30-3A41-329E-18D1-AE50907D8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7F8351F-E81B-9444-840E-B54C79E8A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2" name="Picture 1" descr="A graph of blue rectangular bars">
            <a:extLst>
              <a:ext uri="{FF2B5EF4-FFF2-40B4-BE49-F238E27FC236}">
                <a16:creationId xmlns:a16="http://schemas.microsoft.com/office/drawing/2014/main" id="{E2367A73-0874-C37B-C767-6D902916DD3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462" y="958336"/>
            <a:ext cx="6966224" cy="49413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02248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95F62-6BED-5E3A-6B30-A469B40BE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A96C2AF-8F0A-4DEC-6276-28E9574B3448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07025E-1820-0104-5636-007059BF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358625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3.2   Implementation and Results: Long Short-Term Memory (LSTM)</a:t>
            </a:r>
            <a:b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</a:b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7F5817-4B75-AD59-5A7A-91FD60D51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335692"/>
            <a:ext cx="6452058" cy="67081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3.2.2   Training and Validation Performance 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15E7962-FF9C-9C2C-9279-568A60192AFA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5A980428-0504-330C-2B26-6EDC497B6B7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C87CC21D-BB46-1685-35BC-4CD37E307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8664952-FEDE-F4BD-BE4E-8F72DFCC4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C0B661E-A575-5D12-16B2-3FCC40732FB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079" y="1913838"/>
            <a:ext cx="8411409" cy="41461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851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F3008-B38E-C631-5D14-D66E7F964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D4E5ACD-CA00-C5F1-B701-EE371ACBE5D2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F1EAFD-77C2-9A0B-62FD-ADA345540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358625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3.2   Implementation and Results: Long Short-Term Memory (LSTM)</a:t>
            </a:r>
            <a:b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</a:b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551E584-A679-A497-60EB-5C96DF387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2084303"/>
            <a:ext cx="4648430" cy="3140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3.2.3   Confusion Matrix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Fear and Surprise were detected more accurately than in CNN, thanks to sequential modeling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95A9546-8DFC-8A3D-EEEA-9FC85649CD36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E1835DA9-28AE-0A87-8EE8-10506DEF77F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D59E40BA-F036-0E6F-1E92-4793AA47B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28A0C11-DFD6-F8B6-6FDE-F1BC66A64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CCB84C6-FE71-9735-1C74-4724982C04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05330" y="897799"/>
            <a:ext cx="5784786" cy="50624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19030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1961F-88DE-78B6-99D9-A6F498B4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09130ED-524C-9BA3-0F3A-DECDBC07F6C3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E2BDF9-B928-66CD-5EDF-D3A0DABC2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358625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3.2   Implementation and Results: Long Short-Term Memory (LSTM)</a:t>
            </a:r>
            <a:b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</a:b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601DA6-DBF2-DD4C-296D-59F246A54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532760"/>
            <a:ext cx="11173060" cy="4616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3.2.4   Summary of Results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Angry / Sad: Excellent recognition (191, 159 correct)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Happy: Moderate, overlaps with Angry &amp; Neutral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Neutral: Weak, scattered across multiple classes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Fear / Disgust: Low, frequent misclassifications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Calm / Boredom / Surprise: Very poor, failed on Surprise (0 correct)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Insight: Captures temporal patterns → boosts strong emotions, but imbalance hurts low-frequency classes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2B24F1D-9858-91E7-29F3-42B0A66E8AF3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1545868A-0AE3-D3FD-D37F-615778B7685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C7B32E5C-4E36-013D-E9CB-CEB5F1D39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A426D63-99CF-1896-2F7A-1ED97111E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524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6886F-1820-4E1A-7C5E-181E5A94C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AF25BA32-CA40-8469-5D93-E456160D1EF1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EA4D50-5B8B-EC4E-E492-C7C3524E2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35862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3.3   Implementation and Results: CNN + LSTM</a:t>
            </a:r>
            <a:b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</a:b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FF62E21-C20B-364D-3686-12CA36C82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532760"/>
            <a:ext cx="11173060" cy="4243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3.3.1    Architecture and Training Setup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Trained on MFCC features with speaker-independent splits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Loss/Optimizer: Categorical cross-entropy, Adam 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lr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 = 1e-3)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Input preprocessing: Standardized with training set statistics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Overfitting control: Early stopping + validation monitoring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Evaluation: Accuracy + imbalance-aware metrics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524C45-11D1-17AD-3D64-91C154C96FCA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6B53560B-937E-9278-0F44-A03DF0D5FA5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62ADABB7-2D06-7857-27A1-682345B1B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7ECBCDA-265D-937B-2EA8-403BBDE6C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80440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1CA9F-4792-F26E-7229-077164ECC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F8C212F0-311E-4121-C8DD-ECDB48840DCD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2E31C9-211F-0AE8-0363-81AAD02F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35862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3.3   Implementation and Results: CNN + LSTM</a:t>
            </a:r>
            <a:b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</a:b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2D0AB5D-33F7-62CD-DFE8-6674BC9C8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532760"/>
            <a:ext cx="11173060" cy="771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3.3.2    Training and Validation Performance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7245BC-EB04-ADAC-C6C5-11CCB3BFCCC7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134F28C2-B1FF-CC12-831A-635BD08F252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66EADC59-BE44-A493-6B7E-92D519C97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CE74E1B-B0F5-7709-9BF5-D645D7F84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5F46FDD-19DE-06BE-AB03-3DCC0BB86A8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56" y="2152570"/>
            <a:ext cx="9322560" cy="378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976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8C07B-AFCC-D2EC-B0BE-43E15E55D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145EBF2F-FC08-18AE-379C-10CF27444F23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E3A498-CE0D-8B6B-3ACC-66EA87C60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35862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3.3   Implementation and Results: CNN + LSTM</a:t>
            </a:r>
            <a:b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</a:b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A9E3F3B-3E04-5F42-E71F-60DF2094F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532759"/>
            <a:ext cx="5383290" cy="42874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3.3.3    Test-Set Performance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Overall test accuracy: ~11%, macro F1: ≈ 0.07 (very low)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Recall: Moderate for Angry &amp; Surprise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Near-zero for Boredom, Calm, Disgust, Neutral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Performance gap indicates class-prior collapse and/or label/feature mismatch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B838A91-31B1-843C-AC41-F072FDBE5188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BFC752E5-A2DC-8925-7852-4AB615624AA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218C834-46E8-CBD6-1047-EA2909701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3E9E471-5020-594F-BDAB-815D371DB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B2B4F49-22F5-260C-0426-EA0E9947BF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0346" y="1594178"/>
            <a:ext cx="5974598" cy="403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566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C3E6D-A0EB-DA6F-D554-F7D548EC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AB306CE-2300-E0B9-8901-61140F656EEA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D704CD-BC56-BBB6-1044-3537CF15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35862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3.3   Implementation and Results: CNN + LSTM</a:t>
            </a:r>
            <a:b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</a:b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FD57B0-CEED-4DD0-E41F-B8259BCE7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532759"/>
            <a:ext cx="5383290" cy="4616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3.3.4    Confusion Matrix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Angry/Happy/Fear → often misclassified as Surprise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Neutral &amp; Sad → overlap due to low-energy patterns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Boredom/Calm/Disgust → rarely predicted (minority collapse)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Causes: Class imbalance, limited temporal context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3534CAD-9CAD-6158-7D1A-B790409EB2D4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4B722F6F-A20C-B530-A077-D8D179C22EB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DE44A6C-6370-8641-CA1C-6E2B267C2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855E342-DF15-1208-3246-71A001501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234B83-A515-4A93-F91D-29E4D9A63F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346" y="998184"/>
            <a:ext cx="6308719" cy="49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397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68336-9FDB-2931-71FA-053802C8D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2BE0162-2C3E-92C3-27A1-C72B19342FD5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13EE8C-3556-CBC0-E4AC-BA80B403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35862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3.3   Implementation and Results: CNN + LSTM</a:t>
            </a:r>
            <a:b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</a:b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8737F2-5753-5EA6-6C03-745D18588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634361"/>
            <a:ext cx="11173060" cy="3387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3.3.5    Summary of Results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Test performance very low: Accuracy ≈ 0.11, Macro-F1 ≈ 0.07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Confusions concentrated in high-arousal classes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Issues: single-timestep input, class imbalance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1E8744-36A5-BA4D-4701-F69A948B0AF6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29749550-F6B3-927D-9F58-B1C11A70E0F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F2E9B3A4-7A45-1836-D5DF-851529D32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29F3F87-1B05-2B90-F3CA-33AB13FEB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14110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36D42-0709-6B33-F9A3-CCE3AD6B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5C10C8A-F883-77A8-AC4B-F52DAA5D0EEA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7EB2B5-3FC9-DD92-8D36-E5DEEB6AF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35862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3.4   Implementation and Results: Random Forest Classifier</a:t>
            </a:r>
            <a:b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</a:br>
            <a:endParaRPr lang="en-US" sz="3200" dirty="0">
              <a:solidFill>
                <a:srgbClr val="CA222B"/>
              </a:solidFill>
              <a:latin typeface="Tajawal Black" panose="00000500000000000000" pitchFamily="2" charset="-78"/>
              <a:ea typeface="+mn-ea"/>
              <a:cs typeface="Tajawal Black" panose="00000500000000000000" pitchFamily="2" charset="-78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307431E-DC1E-1D7A-14BF-C0A4CB479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634361"/>
            <a:ext cx="11173060" cy="6153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3.4.1    Hyperparameter Tuning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CEC531A-FF51-4A52-293A-809210B0C4D9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24939670-1C5F-4ABE-0971-A2DEA7592E2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EE920C5-DC66-271E-FA90-25702C622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C08EC52-55CE-1D9D-359F-2196B1353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8" name="Picture 7" descr="A screenshot of a computer code">
            <a:extLst>
              <a:ext uri="{FF2B5EF4-FFF2-40B4-BE49-F238E27FC236}">
                <a16:creationId xmlns:a16="http://schemas.microsoft.com/office/drawing/2014/main" id="{662F86EF-B5CB-9891-4C91-1D4F2FCD79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83" y="2554995"/>
            <a:ext cx="5456402" cy="2713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62AC61-8056-9F48-E745-911CC45980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085" y="2554995"/>
            <a:ext cx="6356288" cy="2715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64878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EE4B6-F2AA-6472-16FE-8A56767A3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F30A453E-7FCD-4257-87F6-9B15E0B87EF5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511CC3-C4EA-0D63-5906-1D6082EE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05435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3.4   Implementation and Results: Random Forest Classifier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2BB036E-924A-C129-EB0F-46E1D4A58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443944"/>
            <a:ext cx="11173060" cy="876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3.4.2    Training and Testing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00E5894-347B-40F0-5C02-D2E5405DCD55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39EE720B-437F-558D-1C8A-C615B20A383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5919735F-042D-E269-F0B9-746AB5122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9F2D7D8-223C-F03F-7AB2-F09C8005F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350764D7-C07A-C3F3-ECE2-3994EB94F9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43" y="2434405"/>
            <a:ext cx="4743514" cy="3518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034337A6-2585-7E03-6B8B-811C45B426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586" y="2434405"/>
            <a:ext cx="4743514" cy="35207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69411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BF419-C77D-CFD1-3447-23707BE5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9FCE7341-2E55-5840-345B-76F79787BD43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A8CAD6-1667-C083-4C34-C4948B4A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05435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3.4   Implementation and Results: Random Forest Classifier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F1D5466-A5DE-E54F-AF84-11881E230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443943"/>
            <a:ext cx="11173060" cy="4085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3.4.3    Summary of Results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SVM performed best overall, strong on angry, calm, sad, surprise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Random Forest &amp; deep learning had lower accuracy (47.5% &amp; 42.6%)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Deep learning struggled with class imbalance but can improve with more data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SVM: highest macro-F1 &amp; UAR, fast and consistent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AEE373E-9BEE-84FA-B6FC-798210E9BEA7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53E251EB-B5B1-CDB5-5663-2E5C00BF6F6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09737E26-4DBB-FBBA-5918-DBFE36CE8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C794DCC-E8C0-CDF7-A8AF-C5FF977B5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52845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63DC-5F02-700F-4A26-CE13BF870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0A5E82C3-2689-24C1-F8B5-768AD8FB4891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B1CD6C-CAB6-4BC9-C636-E0E4E86A9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05435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3.5   Implementation and Results: Support Vector Machine (SVM)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45ABE59-547E-0BE9-8A25-850B04C18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485680"/>
            <a:ext cx="11273065" cy="1591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3.5.1    Hyperparameter Tuning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RBF kernel with moderate regularization improved sadness &amp; disgust; some overlap remains for angry/happy/fear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1E80447-D473-19FF-A3ED-4CD7F981EA64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484D6410-4CFD-DF8E-A9D3-105AE50D269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8E7D5DF7-5E5B-3068-DA29-726C18ECA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2766108-2DCA-886E-2C16-D9B43F3A4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9E735DC-3B1C-777C-DD1C-A6B783CB4A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268" y="3356842"/>
            <a:ext cx="7266640" cy="26363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91861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A111D-4A61-192A-02D6-908105AD0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2C1079A-EE15-CF36-1471-B83C3E07856B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AEEED4-6BA1-8A15-FE8B-D57BD06E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05435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3.5   Implementation and Results: Support Vector Machine (SVM)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E9227CF-B0A2-01C8-D043-F3DA382E5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6" y="1485681"/>
            <a:ext cx="11273065" cy="771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3.5.2    Training and Validation Performance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AF2469F-244B-AC32-1D45-6B9D14E6B310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C693520D-A0C1-D2A0-5EC1-03BDE32CC68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E6E7225-9B69-1C60-BD82-A7E06E3BC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8EB09CD-3FB4-8FB0-B5CB-2D5965E54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3FA8D06-14BE-231C-A4F0-E16B431520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279"/>
          <a:stretch>
            <a:fillRect/>
          </a:stretch>
        </p:blipFill>
        <p:spPr bwMode="auto">
          <a:xfrm>
            <a:off x="601884" y="2480715"/>
            <a:ext cx="11088237" cy="25749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8024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C7BA6-183A-1B0E-13BD-F43DAA2FA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9B0C1E9-BE30-0983-EE13-ADA5193987B9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81A109-B0FF-4A77-599F-19BE20522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05435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3.5   Implementation and Results: Support Vector Machine (SVM)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C0FFF9-10DA-91F8-79F2-06E7F6C4B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57" y="2801440"/>
            <a:ext cx="4779058" cy="771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3.5.3    Confusion Matrix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C3767DA-1EFD-E767-4DF1-DBC7EFA39F2C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2281224A-ECFD-ACD7-35C7-749D322C176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DEA00B23-254A-BAE5-609D-1E9843BFA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83EF360-BC31-294E-F029-7D9F1F361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5669CD8-A368-9F18-8555-0530A5ACFA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42940"/>
            <a:ext cx="5424680" cy="47721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85076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8D611-A13B-EF9D-DB61-506167427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08D0E132-CF80-1822-D660-7F3ACC8515BA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68A248-B17F-4AB9-A0F8-68A56562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05435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3.5   Implementation and Results: Support Vector Machine (SVM)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D631788-82AE-F758-D851-30E24F4FF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84" y="1596754"/>
            <a:ext cx="4779058" cy="771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3.5.4    Summary of Results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4CF050-1CC1-7CD3-E809-E5EFD6B8ADC1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C77FE0D0-F532-9252-6B95-14FF610821D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61EEE7BD-4568-E730-25FE-B6587FE56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AA3C7D8-736B-E57D-954A-1B4414222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B14CF15-587F-3B47-12DE-A826A4396FD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1" y="2077044"/>
            <a:ext cx="10806345" cy="4092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09353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67846-AA3F-8FC0-42D5-CC7B45BA1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8985AFC-6000-CC2D-665B-85542CE6AB81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552379-271E-B6DB-9766-5F8338C19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05435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4 Model Demonstration and Future Vision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478F32D-CC47-D018-E53F-27CF350D8748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DDF5F1B4-C13F-7644-5ACA-4AD3CAB0258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B0C5CF65-056C-7965-80C8-556C7C287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0219C49-F6A5-FE4F-89BE-08DE0C314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67295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67846-AA3F-8FC0-42D5-CC7B45BA1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odel demo">
            <a:hlinkClick r:id="" action="ppaction://media"/>
            <a:extLst>
              <a:ext uri="{FF2B5EF4-FFF2-40B4-BE49-F238E27FC236}">
                <a16:creationId xmlns:a16="http://schemas.microsoft.com/office/drawing/2014/main" id="{B5C7EF29-5748-555B-236D-77AFAED3EB7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760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49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2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A1B8-47C4-6AED-A6C3-8B480EBC5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8DFA06F4-E0A5-C673-9EF2-D67AB855FF9B}"/>
              </a:ext>
            </a:extLst>
          </p:cNvPr>
          <p:cNvSpPr txBox="1"/>
          <p:nvPr/>
        </p:nvSpPr>
        <p:spPr>
          <a:xfrm>
            <a:off x="601884" y="6149482"/>
            <a:ext cx="392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/>
                <a:cs typeface="Times New Roman"/>
              </a:rPr>
              <a:t>Emotional Speech Detector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3AB813-F3DE-468D-5B90-31BE0531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4" y="275736"/>
            <a:ext cx="11173060" cy="105435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A222B"/>
                </a:solidFill>
                <a:latin typeface="Tajawal Black" panose="00000500000000000000" pitchFamily="2" charset="-78"/>
                <a:ea typeface="+mn-ea"/>
                <a:cs typeface="Tajawal Black" panose="00000500000000000000" pitchFamily="2" charset="-78"/>
              </a:rPr>
              <a:t>References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FFF140F-D03C-343B-1700-A7523C843EF6}"/>
              </a:ext>
            </a:extLst>
          </p:cNvPr>
          <p:cNvGrpSpPr/>
          <p:nvPr/>
        </p:nvGrpSpPr>
        <p:grpSpPr>
          <a:xfrm>
            <a:off x="6232784" y="5993144"/>
            <a:ext cx="5457337" cy="771135"/>
            <a:chOff x="977475" y="-956156"/>
            <a:chExt cx="7516956" cy="1062165"/>
          </a:xfrm>
        </p:grpSpPr>
        <p:pic>
          <p:nvPicPr>
            <p:cNvPr id="23" name="Google Shape;226;p4" descr="Our Leadership – Hariri Foundation">
              <a:extLst>
                <a:ext uri="{FF2B5EF4-FFF2-40B4-BE49-F238E27FC236}">
                  <a16:creationId xmlns:a16="http://schemas.microsoft.com/office/drawing/2014/main" id="{5E9677DC-DE26-53FC-B1FE-85D12F4F74E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7475" y="-717631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068DC305-8C92-B597-4675-1BF5D1D8E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0391" y="-589369"/>
              <a:ext cx="1844040" cy="419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61A9EFE-C3E7-C77F-07A9-71479771C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196" y="-956156"/>
              <a:ext cx="2934603" cy="1062165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A59FAA5-0499-D3E5-B596-F8CD2F42EBB7}"/>
              </a:ext>
            </a:extLst>
          </p:cNvPr>
          <p:cNvSpPr txBox="1"/>
          <p:nvPr/>
        </p:nvSpPr>
        <p:spPr>
          <a:xfrm>
            <a:off x="295421" y="1393321"/>
            <a:ext cx="1160115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Burnwal, S. (2018). Speech emotion recognition. Kaggle. https://www.kaggle.com/code/shivamburnwal/speech-emotion-recognition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Dincer, B. (2021). Emotional speech recognition / AUDIO PROCESS / ALL. Kaggle. https://www.kaggle.com/code/brsdincer/emotional-speech-recognition-audio-process-all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South California. (2004) IEMOCAP Database. https://sail.usc.edu/iemocap/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PLOS One. (2018). RAVDESS Database, official paper. https://journals.plos.org/plosone/article?id=10.1371/journal.pone.0196391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NIH. (2015). CREMA-D database paper. https://pmc.ncbi.nlm.nih.gov/articles/PMC4313618/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Kaggle. CREMA-D database. https://www.kaggle.com/datasets/ejlok1/cremad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GitHub. (2018). CREMA-D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Demographs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  https://github.com/CheyneyComputerScience/CREMA-D/blob/master/VideoDemographics.csv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(2015).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docs. https://librosa.org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OpenSmile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(2022).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Opensmile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doc. https://audeering.github.io/opensmile/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OpenAI. (2025). ChatGPT (GPT-5) [Large language model]. https://chat.openai.com/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Google. (2025). Gemini [Large language model]. https://gemini.google.com/</a:t>
            </a:r>
          </a:p>
        </p:txBody>
      </p:sp>
    </p:spTree>
    <p:extLst>
      <p:ext uri="{BB962C8B-B14F-4D97-AF65-F5344CB8AC3E}">
        <p14:creationId xmlns:p14="http://schemas.microsoft.com/office/powerpoint/2010/main" val="2685709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2A48DD04-FFFB-9A00-DCD4-58926D810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">
            <a:extLst>
              <a:ext uri="{FF2B5EF4-FFF2-40B4-BE49-F238E27FC236}">
                <a16:creationId xmlns:a16="http://schemas.microsoft.com/office/drawing/2014/main" id="{CE405867-303F-21CF-C50B-2869B00D7F61}"/>
              </a:ext>
            </a:extLst>
          </p:cNvPr>
          <p:cNvSpPr txBox="1"/>
          <p:nvPr/>
        </p:nvSpPr>
        <p:spPr>
          <a:xfrm>
            <a:off x="881873" y="1758677"/>
            <a:ext cx="315309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CAPSTONE PRESENTATION</a:t>
            </a:r>
          </a:p>
        </p:txBody>
      </p:sp>
      <p:sp>
        <p:nvSpPr>
          <p:cNvPr id="232" name="Google Shape;232;p4">
            <a:extLst>
              <a:ext uri="{FF2B5EF4-FFF2-40B4-BE49-F238E27FC236}">
                <a16:creationId xmlns:a16="http://schemas.microsoft.com/office/drawing/2014/main" id="{E8A8D4EC-5F86-DB19-D901-BAFFD7AC71C7}"/>
              </a:ext>
            </a:extLst>
          </p:cNvPr>
          <p:cNvSpPr txBox="1"/>
          <p:nvPr/>
        </p:nvSpPr>
        <p:spPr>
          <a:xfrm>
            <a:off x="841609" y="2064295"/>
            <a:ext cx="665324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ajawal Black"/>
                <a:ea typeface="Tajawal Black"/>
                <a:cs typeface="Tajawal Black"/>
                <a:sym typeface="Tajawal Black"/>
              </a:rPr>
              <a:t>ARTIFICIAL INTELLIGENCE</a:t>
            </a:r>
            <a:r>
              <a:rPr lang="en-US" sz="2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Black"/>
                <a:ea typeface="Tajawal Black"/>
                <a:cs typeface="Tajawal Black"/>
                <a:sym typeface="Tajawal Black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ajawal Black"/>
                <a:ea typeface="Tajawal Black"/>
                <a:cs typeface="Tajawal Black"/>
                <a:sym typeface="Tajawal Black"/>
              </a:rPr>
              <a:t>BOOTCAMP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ajawal" panose="00000500000000000000" pitchFamily="2" charset="-78"/>
                <a:ea typeface="Tajawal Black"/>
                <a:cs typeface="Tajawal" panose="00000500000000000000" pitchFamily="2" charset="-78"/>
                <a:sym typeface="Tajawal Black"/>
              </a:rPr>
              <a:t>2025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  <a:sym typeface="Arial"/>
            </a:endParaRPr>
          </a:p>
        </p:txBody>
      </p:sp>
      <p:sp>
        <p:nvSpPr>
          <p:cNvPr id="234" name="Google Shape;234;p4">
            <a:extLst>
              <a:ext uri="{FF2B5EF4-FFF2-40B4-BE49-F238E27FC236}">
                <a16:creationId xmlns:a16="http://schemas.microsoft.com/office/drawing/2014/main" id="{1758863A-D7D6-AAD5-26C2-386DAA1191F5}"/>
              </a:ext>
            </a:extLst>
          </p:cNvPr>
          <p:cNvSpPr txBox="1"/>
          <p:nvPr/>
        </p:nvSpPr>
        <p:spPr>
          <a:xfrm>
            <a:off x="841609" y="5916845"/>
            <a:ext cx="48382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Saida, 3 October 2025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C102359-FE2B-CC6A-663C-24D12B63FB42}"/>
              </a:ext>
            </a:extLst>
          </p:cNvPr>
          <p:cNvGrpSpPr/>
          <p:nvPr/>
        </p:nvGrpSpPr>
        <p:grpSpPr>
          <a:xfrm>
            <a:off x="881873" y="263973"/>
            <a:ext cx="10428254" cy="1062165"/>
            <a:chOff x="881873" y="263973"/>
            <a:chExt cx="10428254" cy="1062165"/>
          </a:xfrm>
        </p:grpSpPr>
        <p:pic>
          <p:nvPicPr>
            <p:cNvPr id="226" name="Google Shape;226;p4" descr="Our Leadership – Hariri Foundation">
              <a:extLst>
                <a:ext uri="{FF2B5EF4-FFF2-40B4-BE49-F238E27FC236}">
                  <a16:creationId xmlns:a16="http://schemas.microsoft.com/office/drawing/2014/main" id="{6E3BD878-8E70-CD92-3BED-CCB6785D925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1873" y="502498"/>
              <a:ext cx="2289129" cy="56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A63E31E1-46F4-CFA9-2F84-8F7A1AB9C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66087" y="630760"/>
              <a:ext cx="1844040" cy="4191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39C1A7-7BE6-A639-6E79-1F4723193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1243" y="263973"/>
              <a:ext cx="2934603" cy="1062165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8F9584C-613F-7434-1B65-798F3EF3A94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56"/>
          <a:stretch>
            <a:fillRect/>
          </a:stretch>
        </p:blipFill>
        <p:spPr>
          <a:xfrm>
            <a:off x="9309574" y="1174182"/>
            <a:ext cx="5764852" cy="7658711"/>
          </a:xfrm>
          <a:prstGeom prst="rect">
            <a:avLst/>
          </a:prstGeom>
        </p:spPr>
      </p:pic>
      <p:sp>
        <p:nvSpPr>
          <p:cNvPr id="5" name="Google Shape;229;p4">
            <a:extLst>
              <a:ext uri="{FF2B5EF4-FFF2-40B4-BE49-F238E27FC236}">
                <a16:creationId xmlns:a16="http://schemas.microsoft.com/office/drawing/2014/main" id="{E6847875-AA3C-2C05-975A-394F3AB5D750}"/>
              </a:ext>
            </a:extLst>
          </p:cNvPr>
          <p:cNvSpPr txBox="1"/>
          <p:nvPr/>
        </p:nvSpPr>
        <p:spPr>
          <a:xfrm>
            <a:off x="2473126" y="2945708"/>
            <a:ext cx="6836448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defRPr/>
            </a:pPr>
            <a:r>
              <a:rPr lang="en-US" sz="8000" kern="0" dirty="0">
                <a:solidFill>
                  <a:srgbClr val="C00000"/>
                </a:solidFill>
                <a:latin typeface="Tajawal ExtraBold" panose="00000800000000000000" pitchFamily="2" charset="-78"/>
                <a:ea typeface="Tajawal Medium"/>
                <a:cs typeface="Tajawal ExtraBold" panose="00000800000000000000" pitchFamily="2" charset="-78"/>
                <a:sym typeface="Tajawal Medium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7A79B2-0284-9490-7CF2-3B9C9A389D3E}"/>
              </a:ext>
            </a:extLst>
          </p:cNvPr>
          <p:cNvSpPr txBox="1"/>
          <p:nvPr/>
        </p:nvSpPr>
        <p:spPr>
          <a:xfrm>
            <a:off x="841609" y="4341819"/>
            <a:ext cx="48382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Reem Basho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Yasmine Hariri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jawal" panose="00000500000000000000" pitchFamily="2" charset="-78"/>
              <a:ea typeface="+mn-ea"/>
              <a:cs typeface="Tajawal" panose="00000500000000000000" pitchFamily="2" charset="-7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Rand Al Yaman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" panose="00000500000000000000" pitchFamily="2" charset="-78"/>
                <a:ea typeface="+mn-ea"/>
                <a:cs typeface="Tajawal" panose="00000500000000000000" pitchFamily="2" charset="-78"/>
              </a:rPr>
              <a:t>Mahdi Dagher</a:t>
            </a:r>
          </a:p>
        </p:txBody>
      </p:sp>
    </p:spTree>
    <p:extLst>
      <p:ext uri="{BB962C8B-B14F-4D97-AF65-F5344CB8AC3E}">
        <p14:creationId xmlns:p14="http://schemas.microsoft.com/office/powerpoint/2010/main" val="3376417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1599</Words>
  <Application>Microsoft Office PowerPoint</Application>
  <PresentationFormat>Widescreen</PresentationFormat>
  <Paragraphs>228</Paragraphs>
  <Slides>41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Calibri</vt:lpstr>
      <vt:lpstr>Calibri Light</vt:lpstr>
      <vt:lpstr>Tajawal</vt:lpstr>
      <vt:lpstr>Tajawal Black</vt:lpstr>
      <vt:lpstr>Tajawal ExtraBold</vt:lpstr>
      <vt:lpstr>Tajawal Light</vt:lpstr>
      <vt:lpstr>Tajawal Medium</vt:lpstr>
      <vt:lpstr>Times New Roman</vt:lpstr>
      <vt:lpstr>Office Theme</vt:lpstr>
      <vt:lpstr>PowerPoint Presentation</vt:lpstr>
      <vt:lpstr>Project Overview</vt:lpstr>
      <vt:lpstr>Outline</vt:lpstr>
      <vt:lpstr>1.   Introduction</vt:lpstr>
      <vt:lpstr>2.   Methodology:</vt:lpstr>
      <vt:lpstr>2.1   Material, Software, and Equipment used</vt:lpstr>
      <vt:lpstr>2.2   Preprocessing Pipeline</vt:lpstr>
      <vt:lpstr>2.3   Datasets: CREMA-D, RAVDESS, and EmoDB</vt:lpstr>
      <vt:lpstr>2.3   Datasets: CREMA-D, RAVDESS, and EmoDB</vt:lpstr>
      <vt:lpstr>2.3   Datasets: CREMA-D, RAVDESS, and EmoDB</vt:lpstr>
      <vt:lpstr>Data Cleaning</vt:lpstr>
      <vt:lpstr>Data Cleaning: Techniques and Approaches</vt:lpstr>
      <vt:lpstr>Data Cleaning: Training and Evaluation</vt:lpstr>
      <vt:lpstr>Data Cleaning: Exploratory Data Analysis (EDA)</vt:lpstr>
      <vt:lpstr>Data Cleaning: Exploratory Data Analysis (EDA)</vt:lpstr>
      <vt:lpstr>Data Cleaning: Exploratory Data Analysis (EDA)</vt:lpstr>
      <vt:lpstr>Data Cleaning: Exploratory Data Analysis (EDA)</vt:lpstr>
      <vt:lpstr>3.   Implementation and Results</vt:lpstr>
      <vt:lpstr>3.1   Implementation and Results: Convolutional Neural Network (CNN) </vt:lpstr>
      <vt:lpstr>3.1   Implementation and Results: Convolutional Neural Network (CNN) </vt:lpstr>
      <vt:lpstr>3.1   Implementation and Results: Convolutional Neural Network (CNN) </vt:lpstr>
      <vt:lpstr>3.2   Implementation and Results: Long Short-Term Memory (LSTM) </vt:lpstr>
      <vt:lpstr>3.2   Implementation and Results: Long Short-Term Memory (LSTM) </vt:lpstr>
      <vt:lpstr>3.2   Implementation and Results: Long Short-Term Memory (LSTM) </vt:lpstr>
      <vt:lpstr>3.2   Implementation and Results: Long Short-Term Memory (LSTM) </vt:lpstr>
      <vt:lpstr>3.3   Implementation and Results: CNN + LSTM </vt:lpstr>
      <vt:lpstr>3.3   Implementation and Results: CNN + LSTM </vt:lpstr>
      <vt:lpstr>3.3   Implementation and Results: CNN + LSTM </vt:lpstr>
      <vt:lpstr>3.3   Implementation and Results: CNN + LSTM </vt:lpstr>
      <vt:lpstr>3.3   Implementation and Results: CNN + LSTM </vt:lpstr>
      <vt:lpstr>3.4   Implementation and Results: Random Forest Classifier </vt:lpstr>
      <vt:lpstr>3.4   Implementation and Results: Random Forest Classifier</vt:lpstr>
      <vt:lpstr>3.4   Implementation and Results: Random Forest Classifier</vt:lpstr>
      <vt:lpstr>3.5   Implementation and Results: Support Vector Machine (SVM)</vt:lpstr>
      <vt:lpstr>3.5   Implementation and Results: Support Vector Machine (SVM)</vt:lpstr>
      <vt:lpstr>3.5   Implementation and Results: Support Vector Machine (SVM)</vt:lpstr>
      <vt:lpstr>3.5   Implementation and Results: Support Vector Machine (SVM)</vt:lpstr>
      <vt:lpstr>4 Model Demonstration and Future Vision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Ismail</dc:creator>
  <cp:lastModifiedBy>Mahdi M. Dagher</cp:lastModifiedBy>
  <cp:revision>9</cp:revision>
  <dcterms:created xsi:type="dcterms:W3CDTF">2025-10-01T09:37:07Z</dcterms:created>
  <dcterms:modified xsi:type="dcterms:W3CDTF">2025-10-02T18:29:20Z</dcterms:modified>
</cp:coreProperties>
</file>