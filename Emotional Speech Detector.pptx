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83" r:id="rId12"/>
    <p:sldId id="266" r:id="rId13"/>
    <p:sldId id="270" r:id="rId14"/>
    <p:sldId id="271" r:id="rId15"/>
    <p:sldId id="269" r:id="rId16"/>
    <p:sldId id="267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4" r:id="rId27"/>
    <p:sldId id="285" r:id="rId28"/>
    <p:sldId id="286" r:id="rId29"/>
    <p:sldId id="287" r:id="rId30"/>
    <p:sldId id="288" r:id="rId31"/>
    <p:sldId id="289" r:id="rId32"/>
    <p:sldId id="294" r:id="rId33"/>
    <p:sldId id="290" r:id="rId34"/>
    <p:sldId id="291" r:id="rId35"/>
    <p:sldId id="292" r:id="rId36"/>
    <p:sldId id="293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B4C0"/>
    <a:srgbClr val="FFDBB7"/>
    <a:srgbClr val="FF8B1E"/>
    <a:srgbClr val="C22F3C"/>
    <a:srgbClr val="FFFFFF"/>
    <a:srgbClr val="F07530"/>
    <a:srgbClr val="E77389"/>
    <a:srgbClr val="FFAB57"/>
    <a:srgbClr val="FFAE5D"/>
    <a:srgbClr val="E565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D7D76-6EFD-46AD-9C8A-9DA3C011ADE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7122D-5AFA-4AB4-8F5B-0E5152887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75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95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F86B5-CC72-4D6F-F3C9-5C9AA3B7A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8C658-90D2-9B02-64D6-952A82B20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31053-A35B-8040-2509-28E22BE6B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BADD3-5201-97D1-1C2D-0993A62AF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207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9B9DC-C057-B5E1-8946-42794A71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824B4-4B62-6DCC-0A0B-301D10899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7F227A-70B0-1F16-C4B6-44E188184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1F870-C00E-3AAA-9BF4-1A58FE1FF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9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B227B-2421-22FA-C3CE-43A8D1AD2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9848B-56CE-F9FF-C4E5-EC658B7A5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598FE4-C06A-1D26-BDA9-DBC1BB683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76C87-8621-A9AC-CC10-B6166664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780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833CE-8647-77AB-4ADA-1F4B0628C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9A70EB-E5A2-A266-626C-71586C1D1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5DE34-FB1E-0729-053C-395AF0B6C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051A2-3355-ADA0-7666-F2505CED37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3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A6B80-6E0A-61CC-47E2-DB9A08D8E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AAF99-B05F-82A7-F19A-67BDF1989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BC291-1999-3AA2-66D5-7EC19CD61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1926E-5AC3-AC58-952C-A3F7B3809E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45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A1D9B-B04B-469B-5574-61CD1629E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F80AA4-7F25-00FF-191A-D0E56FFB3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59DF8-99B7-196C-5F61-E4E43F872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0CB53-21A0-A8AF-6B94-DD3817C62C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69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8163D-0833-7E9B-CB9B-D4F95A337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C708D-5974-9459-7E52-4BE85F415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5A0B3-8C0E-17D9-2C80-8FC34C607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FA08C-0C62-BA37-5C55-0143CD462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15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E33A7-E6A5-7020-8878-81ACDE9FB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FA2A1-F6E4-407B-737C-DC3479839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45CE3-8A11-3BD8-4CB4-ABA51158C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5B77B-A50F-A22A-CB1C-6CC54E18D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11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4EDA6-EB4F-D8C4-1ADA-2ED1801C9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32A99-E7CD-1809-648D-CE18CA3D1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8403A5-FCFC-D87D-A563-BB1B26481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E63DC-098D-C485-600A-706446E90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582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B0F2C-4727-C522-C299-AD3186889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1327F6-4765-0F74-DF14-6579EB989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CD04B-EF2C-6D5F-74F7-13BB7E903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0C1B7-E425-0AF9-C36B-AE8EF6638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66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DA83A-5224-2227-B684-ABD800E83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9817D-C120-B0D0-71F7-CF4790EA9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701DC-AC43-BB28-1D2C-C5DB9E680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19E67-1B03-F484-AD96-AAAFAD523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22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B6D58-5C71-37C4-F472-35542E09B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1C249-4853-57B9-D40D-C70361C1C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00D404-7DBC-2ADA-980A-3E318BDF7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2A30C-D428-F39E-9C19-1D9C6E073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474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C32DF-5664-F46F-E16C-CA56E9A71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BEDC4-BD8E-F8E2-2F17-447ACDA7B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07D07-A17F-EC9F-B620-3F36036E2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A6A0B-DFD9-A603-ACFD-9729A3A68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453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6C22D-2BBA-B28F-2A83-11DA5B9E5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7AB0FD-CEF6-A2D7-24BA-9A2268323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2A62A-CBC0-EC49-2226-22034A785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12F96-A98F-0521-4AAB-33117117F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7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BCF52-A156-A83C-635B-85058E9D1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B1A59-718A-40EE-6C5C-8BBA1C225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B4A39-DF4D-F558-98FC-151851A24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8CDA3-A29F-A146-B991-1DF00A014C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1663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8E3BE-A7FF-5981-F2C1-3EF6AFC95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0399E-762A-39E7-3273-85A84AE9C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D3D9A-5574-16F3-FFF4-414901CB9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0579A-8C32-437B-8DF1-5723FDDFC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5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64ABE-B9D5-51FB-8BE7-C5D2306EF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EAE927-2054-7459-104C-7D946EE34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762BA-953C-7D7D-6B53-A93648E15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F52FB-9BE5-5561-CC6F-1F10D8373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726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6CA3B-D2EA-B28D-EF52-64CE12490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6CD1A-1162-E5DE-FF3C-9EEE16AEE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19F589-621C-FA60-E436-962BC8AB4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B0C74-77BE-8DAA-7570-EB087D3B2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737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A1D8-2BAC-F90D-22C9-2C6F97CF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04D76-8898-8ED2-630A-1532BF9B2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AAB177-DA5C-7EA8-CFB1-C13BF0C7A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60F1D-0273-0593-C5AE-CB9917DC4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887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D1FC7-47CE-B271-B4C3-F82B750DC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0265F-1404-6D22-EFFA-AE94758EE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CBAC6-55E8-EBB8-F6E0-C3F5EB9C5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DF354-67A0-D64B-959D-D013151CC7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956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30908-53F2-C6F6-437E-B7D4975A7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4733B-79B8-9177-0A74-8A1B62642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CAB36-7E18-4B12-A6B2-467417A1D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F9063-EB59-6325-F382-B84E496C0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62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2F0BE-E5B9-C9C2-5212-9EE821994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F3DD4-E85F-CD56-5C25-0F272D090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0290D-9E00-ED75-4393-131C31E1B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40927-8F93-B684-767A-8F86E6F7C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9122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93C0D-6444-84EF-7C57-35B0D2BE6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CDF59B-F7E2-2769-3E33-7151F6EE1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50359-58A0-63BF-CE59-9A0D01FFF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B17A9-3123-1ED3-F7F2-EB15F5C99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146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4D95C-32F3-19C0-BDF1-69F48E099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BF410-234D-A1FE-CAEA-092590F65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7C4167-D121-5F94-84A2-3501DFAC8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0E29B-B2A2-C5DA-196C-157616D6E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617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EF85D-C326-5596-72E1-1FCE4A3F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7F301E-0002-59D7-BE0C-8589CDE1F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0D3FD3-8C28-A527-CB75-F9568CFC4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7753B-0BB2-61A0-B26C-A9EE1E932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2479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8221-543A-F959-01E5-B8EEEECFE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679E2C-A62C-5223-D010-B891BF782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D44F2D-4E54-D695-EC87-8CC588178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A8A58-C50B-86EB-0B85-C19A8725C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955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0EBFB-D074-10DB-29CB-29D9E2208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7FD88C-5B3A-F020-E261-BEE0F3496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68808-F1D7-6CC1-D4CA-1E1949462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B0660-1B90-4F9A-557C-B8CFB9CB6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0516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CFD86-7E8B-CB8D-D5CD-E2C75931D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F326A-AD85-4C5E-C3E3-74F27BE6C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9F7965-8E5E-2F81-6121-AC1BE234A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49E48-04C7-69C7-1A1A-4866488EC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054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F8EFC-70C2-3E77-CAC9-01F527F69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7C7F0-8C36-DBF0-40BD-CB690071C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BCB5-AB17-4A2C-86EC-51302EE87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F0510-9203-96FB-FC4D-B3A6577DA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375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561B2-B3F9-B1B7-3602-2DCCA3B7C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795F50-A07E-2709-A3FE-169C49AD9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8CD16-52C3-EDF6-9F86-1F88AEEBF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5A208-A417-5C5B-3DE0-6A8C002B52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875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13C6A-F03D-0F69-1AC5-D626AAE0A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42FA37-3785-AD02-9D66-880DD111D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656E5-F117-8D00-78C8-216840DAE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E4E9F-EBEF-2919-2D50-B795F60D4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80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238F5-F7D6-B62A-27AD-AEA641FB7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553EA-CDDA-7879-3E48-FB80650E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4C11A-2FD1-72B3-034D-E48B5EAD5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32E29-3577-844C-BC6A-5CE7456D4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957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EFECB-2B2D-0634-9E64-6EE70231C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47EA59-2D53-D53D-5048-53228B92C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AB5240-AB66-2E5D-A874-5379D9746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47609-36EE-DD9A-7CCD-3AEAB20FD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476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5C172-35ED-A8BF-85F1-38D867F5E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45504-6052-F653-D1BF-B94FFA6D2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A372D3-66C1-8F4F-9B13-C00C4A714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BD434-9EBB-671A-E5FE-A5DBA7CBC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387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C46D2-C590-AFB2-8AC4-E12A97A48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4A576-EEAD-260D-B554-81CE1C5F8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0E849-E61C-19B2-C78F-6AAA8F2F8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A5556-6892-3A71-C78E-2483D94637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096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21B89-D1E9-6F2D-7662-EDE732E1B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16EFE-804A-54C0-6AAE-5BE0EC614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99AC3-4E3D-167A-F8B4-1DE8FE4EC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9F729-3BF2-8D83-288F-D77199C51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4395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AB6D6-18F4-C9CC-6B97-5ACA325B1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73A2A-D603-383B-8950-4CA07E98E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4518F-5779-3BA1-49BB-878B8E7AB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0BF38-62A7-9C8F-38B5-C92948BFF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1052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83451-1CE6-70A6-CCAD-355500801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5F29E-1056-88C2-D3E9-3065B8411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D33CE-1778-9491-EAF3-45544C981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ADD3C-8BB1-36B9-C1A0-A71C4AE7B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532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E33F4-3934-D68C-AEFF-3993B9BC6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730B7-63E2-E1F4-9650-A47A9AA011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15F073-446E-40C8-7693-C93C72BF4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8DD98-BB28-B57B-3229-B65176CDF1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463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6851C-0915-905D-FA5A-27E050C9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AFED6-7A6C-2ED5-4B4B-B241F8997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92075-92A3-698D-4391-C551B4A11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3EBFB-F220-1DA0-24B2-EAFDE84F7A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796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FF4FB-73F9-0A9D-4615-BE0499EFE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1FC7C-E233-B795-FFB4-1C8470C75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24E10-861E-F71B-0CA0-F2ABABB5F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5CFC5-58E4-5ABB-F2D5-C87A9C631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7562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74CB8-EAE5-F314-5EE6-4C921F7E3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0861E-617E-075D-2F75-E7427C24A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67BAE-CFBD-769F-0844-C10DC2A9F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DE36D-C367-5AE5-DFF0-B649F7D54C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8955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98DE3-160D-84CD-BFED-AB0B5C048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D2403-C8B4-6313-BC9B-C72CC8CD1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72746-D36D-EB30-4D1C-579129D8D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5A2A0-F621-A413-B7A4-604AC8FD2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8211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B2244-974F-C38A-0CB8-37921836E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A1B3AD-82DF-A3D9-6BD8-0F6189ED6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42F00-B70B-A7C7-0527-961966223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8E59E-815F-4198-A4B4-2F2F5935D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562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C00E3-08AC-C9BA-31E8-F5F02B4C6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B63E0-C8E2-2B6A-86E9-1D414F43F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54320-FE8F-EC5C-936E-41E0620C9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D492F-3A69-8DBF-06E6-33AC80436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0603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C9199-F68E-A868-B180-F9C2C2274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181328-EC78-4F2F-D5B0-8ADD1B9FF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EF9B5-5F3C-770D-AE40-8752BAFC9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E1B39-232A-FDAB-C604-5D29798A3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56886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1ACFB-B313-53FA-14DE-802190116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CC101-6DD1-1D1F-4741-84629093B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2E644-ACE9-C546-F574-9F1EFE5B3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5C79F-25C0-4809-0397-09343D922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7015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CCDB2-6178-67E1-5BD1-512232FC1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F9CAD-93EC-6042-914E-DF305E259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C5A77-0A4B-0C5F-B5A3-129C274EF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54870-4363-1FC3-CB9A-2F6CB1F7B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0426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68AC8-99DD-C0C4-95D6-CD4C473A2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218D0-44AA-32B5-0767-F0982FCB4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2AB0D-B87F-EA67-4750-A4F649996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A1932-9BCB-43A8-A9CA-A2F701E6D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9924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70C77-FE23-6073-505C-732BD5A1B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920D7F-3AF1-2A76-0BD6-08753DF31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182472-EFFE-CBF7-5FE3-4EC1C6479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26E29-6B89-6167-742D-115FB8764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0342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9A7EE-8F98-A712-1907-B672FB76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6E610-4E09-D8BB-41ED-C2F2F6BC5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9E17A-2FB2-FF63-094A-9F33E17A3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92C00-996A-1EB0-7A65-B1ECB9998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9238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A295F-77E8-5CF8-0399-799B3DC34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F2F0F-4C21-AE3E-73D3-5FB52F4CE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8FB219-74BC-8B3A-1E8A-8F053D344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BD67F-8416-C24F-A7AE-540346482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8135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79555-1C4D-822C-8A8C-1578F4CD1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39EF7C-6E62-C129-9781-37D9A6368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F7D43B-4454-07B3-5E4E-41F0C4F60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105CE-6C80-1775-1F01-BF3AD3848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5859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4EB29-0C60-9FF9-263B-2C5C1C399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212D4-2A81-A5C6-BBEC-A348CCBFC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AF70F-5B1A-A48F-895F-7229C4D34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59CAD-E288-44C9-A058-249FEA732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122D-5AFA-4AB4-8F5B-0E5152887FF0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22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87996-8650-7C7C-FFB1-811E5A22D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ED9B8-C5F8-947B-B095-35F51AE2D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AD998-0D12-234C-BD59-3B479E9D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EF32E-5FCC-442E-BBEF-7E1FF0E3688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99533-AF4B-BEF4-4516-D71E4FC9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EEE02-465B-684D-A401-26B67343F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84F7-AF9C-4F12-9B87-5AFB6E30B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415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ADBA9-09AA-1181-8282-8C9828F10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C1792-3D9E-F5E5-7F04-03A9765E9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AC8FE-B23E-2D7A-D856-0992FEBE3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EF32E-5FCC-442E-BBEF-7E1FF0E3688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88BCE-240C-BCD5-0D6B-86F74E494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1B863-91B8-F057-AA29-1812D752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84F7-AF9C-4F12-9B87-5AFB6E30B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266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E8DA-24E8-DD5D-1121-CA273A4E0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612EE-7CD5-9CC3-DA1C-E9E4A5CE5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F1950-32F2-2CEF-D8E7-9C605DC92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EF32E-5FCC-442E-BBEF-7E1FF0E3688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163C5-77C7-720C-1ABE-53CCEA167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4325C-0C13-8973-3294-992EF04A7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84F7-AF9C-4F12-9B87-5AFB6E30B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21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5F39B-F6C2-483F-EEB4-DC40588F2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978F7-98C0-4C6A-36D4-C1813C504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33062-DFAD-E43F-CBF3-CB10AF248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AE52D-DF5D-6CFE-9E45-D8898AD80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EF32E-5FCC-442E-BBEF-7E1FF0E3688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96539-849A-CD22-99C8-958695B75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449F2-783C-0549-CB29-3CEB30F64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84F7-AF9C-4F12-9B87-5AFB6E30B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5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1B54C-3119-F4E8-CB25-8CDD2831B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4B896-3BCE-F5CC-F9AF-FFC6C8091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A7AD5F-9B20-AD6A-396C-19142F9B6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F3484E-64CE-3563-2CB4-15404CD924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EF3A30-46B4-BC36-5750-D05CA84A13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564114-FD8A-B1DD-0D66-DBCC8D69E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EF32E-5FCC-442E-BBEF-7E1FF0E3688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A14059-12BF-6491-8D6A-5FAD51165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5E945-30D7-6A26-24BD-82D3F8D8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84F7-AF9C-4F12-9B87-5AFB6E30B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24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5F1F5-AA71-E501-D7A3-2DA62093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147474-7BB9-47B2-C16D-311E985B1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EF32E-5FCC-442E-BBEF-7E1FF0E3688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E34E15-868C-A1CD-0512-5B9F170D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D1DE9-EFD2-9AA5-1C4F-1A9A127FD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84F7-AF9C-4F12-9B87-5AFB6E30B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70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BC8982-9045-1842-6AD1-ABB6214ED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EF32E-5FCC-442E-BBEF-7E1FF0E3688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306BDD-1DB3-2EA1-1E1C-B34CD5566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0FE5D-B063-FFE9-D677-FACE4A52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84F7-AF9C-4F12-9B87-5AFB6E30B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98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C337E-87EF-DC93-6815-44AA6D89C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6F594-91F6-DB85-6D39-A2F1581F4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4C573-9F35-547B-1F65-B960F63DD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EB940-A8F8-E361-7D28-B75A7F187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EF32E-5FCC-442E-BBEF-7E1FF0E3688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C0BEE-EC78-08D8-6CBD-F73F475C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4C83E-B7F2-9DA4-217B-7CF1AF9C3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84F7-AF9C-4F12-9B87-5AFB6E30B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60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2AC8A-CE34-AA8D-4430-D1895FFB8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E62D6F-56B2-561D-1C79-8E42F9CB4C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9C223-7318-AC74-AEFA-BBAAB58D7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E820C-2E8F-E919-1F2F-EF0818BA2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EF32E-5FCC-442E-BBEF-7E1FF0E3688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2634D-8D4A-204A-77C1-C7D4E19B1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5768E-48E9-E4BE-2CC0-1D3775F84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84F7-AF9C-4F12-9B87-5AFB6E30B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257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BA8D5-BC5B-1B4D-C10E-7899AC27C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B8DD1-DF6A-AE4D-9AAC-1DF51C00B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737C0-540A-C0D2-88D9-A7BD180C7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EF32E-5FCC-442E-BBEF-7E1FF0E3688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87F4C-6C80-B385-6C80-130F5543F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E7B9A-5B92-B842-E05D-8EE7D6878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84F7-AF9C-4F12-9B87-5AFB6E30B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2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69E086-8786-DA11-647C-E5E27446D5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E0AFAC-4C52-FA2F-0CB1-ACFD11809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3B868-33FB-2AB1-C2E2-55ACBC8F1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EF32E-5FCC-442E-BBEF-7E1FF0E3688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13F6C-BEFA-0E79-1B6D-37F953516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84A06-63DD-5FA1-8132-3449588E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84F7-AF9C-4F12-9B87-5AFB6E30B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23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F970BB-B3E2-73FB-244A-DA1FD5EE2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8FD29-0320-5684-DA5D-3581AC47B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EBAA0-9F59-E2F5-C61B-31734C619E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EF32E-5FCC-442E-BBEF-7E1FF0E3688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49835-B7ED-31B8-7105-583D2D6DE1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7225C-D205-B034-CDCC-88702ECE5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D84F7-AF9C-4F12-9B87-5AFB6E30B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20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4.png"/><Relationship Id="rId4" Type="http://schemas.openxmlformats.org/officeDocument/2006/relationships/notesSlide" Target="../notesSlides/notesSlide5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5D8A32-755E-301F-D04C-5A33B4F667C8}"/>
              </a:ext>
            </a:extLst>
          </p:cNvPr>
          <p:cNvSpPr/>
          <p:nvPr/>
        </p:nvSpPr>
        <p:spPr>
          <a:xfrm>
            <a:off x="0" y="2050714"/>
            <a:ext cx="12192000" cy="2552982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4715C8-1CBD-7036-162B-DC46952AB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874" y="821023"/>
            <a:ext cx="10166252" cy="2387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Emotional Speech Detector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43E540-E34A-8766-29DB-EFF137210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27205"/>
            <a:ext cx="9144000" cy="4353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Expo Book SSi" panose="020B0800000000000000" pitchFamily="34" charset="0"/>
              </a:rPr>
              <a:t>Capstone Project – AI Bootcamp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5B0010E-DD61-4954-81FE-FF9634B60A06}"/>
              </a:ext>
            </a:extLst>
          </p:cNvPr>
          <p:cNvSpPr txBox="1">
            <a:spLocks/>
          </p:cNvSpPr>
          <p:nvPr/>
        </p:nvSpPr>
        <p:spPr>
          <a:xfrm>
            <a:off x="1524000" y="3944807"/>
            <a:ext cx="9144000" cy="435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800" dirty="0">
                <a:solidFill>
                  <a:schemeClr val="bg1"/>
                </a:solidFill>
                <a:latin typeface="Expo Book SSi" panose="020B0800000000000000" pitchFamily="34" charset="0"/>
              </a:rPr>
              <a:t>Reem Basho, Yasmine Hariri, Rand Al Yaman, &amp; Mahdi Dagher</a:t>
            </a:r>
            <a:endParaRPr lang="en-US" sz="1800" dirty="0">
              <a:solidFill>
                <a:schemeClr val="bg1"/>
              </a:solidFill>
              <a:latin typeface="Expo Book SSi" panose="020B0800000000000000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2235824-B3EF-FE56-5481-0D99D2FA8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3204" y="5575739"/>
            <a:ext cx="1676400" cy="38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9C349B-209A-167E-DD83-A178C73F85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5083898"/>
            <a:ext cx="4271689" cy="983681"/>
          </a:xfrm>
          <a:prstGeom prst="rect">
            <a:avLst/>
          </a:prstGeom>
          <a:noFill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8A7C139-22BF-C591-39E5-5CAB1005B14B}"/>
              </a:ext>
            </a:extLst>
          </p:cNvPr>
          <p:cNvSpPr txBox="1">
            <a:spLocks/>
          </p:cNvSpPr>
          <p:nvPr/>
        </p:nvSpPr>
        <p:spPr>
          <a:xfrm>
            <a:off x="-8823323" y="1496742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Project Overview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241DB9-26DA-49A9-FF01-20C09BB81E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689" y="7131464"/>
            <a:ext cx="1262555" cy="107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821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A796B-6844-8FC6-2FC9-FCF9C50BB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EC1737-A62A-8F9B-E574-C7479306EB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C5972-7BAE-9508-E102-89C9FDA58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4474" y="-2547257"/>
            <a:ext cx="10166252" cy="2387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Emotional Speech Detector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691EF-43B7-C9AC-D1F5-0A0DD8775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144000" y="3211305"/>
            <a:ext cx="9144000" cy="4353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Expo Book SSi" panose="020B0800000000000000" pitchFamily="34" charset="0"/>
              </a:rPr>
              <a:t>Capstone Project – AI Bootcamp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94A0C40-BC85-A785-4913-140BABFDC92F}"/>
              </a:ext>
            </a:extLst>
          </p:cNvPr>
          <p:cNvSpPr txBox="1">
            <a:spLocks/>
          </p:cNvSpPr>
          <p:nvPr/>
        </p:nvSpPr>
        <p:spPr>
          <a:xfrm>
            <a:off x="10929257" y="3922252"/>
            <a:ext cx="9144000" cy="435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800" dirty="0">
                <a:solidFill>
                  <a:schemeClr val="bg1"/>
                </a:solidFill>
                <a:latin typeface="Expo Book SSi" panose="020B0800000000000000" pitchFamily="34" charset="0"/>
              </a:rPr>
              <a:t>Reem Basho, Yasmine Hariri, Rand Al Yaman, &amp; Mahdi Dagher</a:t>
            </a:r>
            <a:endParaRPr lang="en-US" sz="1800" dirty="0">
              <a:solidFill>
                <a:schemeClr val="bg1"/>
              </a:solidFill>
              <a:latin typeface="Expo Book SSi" panose="020B0800000000000000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6F29E14-830C-B4FA-8CAA-5A534F01F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5776" y="7034154"/>
            <a:ext cx="1676400" cy="38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3A01A6-77A0-B92F-A4F8-F68A0F5416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923314"/>
            <a:ext cx="4271689" cy="983681"/>
          </a:xfrm>
          <a:prstGeom prst="rect">
            <a:avLst/>
          </a:prstGeom>
          <a:noFill/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DC345F3-6A18-D1DE-25BD-644719CD7C39}"/>
              </a:ext>
            </a:extLst>
          </p:cNvPr>
          <p:cNvSpPr txBox="1">
            <a:spLocks/>
          </p:cNvSpPr>
          <p:nvPr/>
        </p:nvSpPr>
        <p:spPr>
          <a:xfrm>
            <a:off x="-9915378" y="1374995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Outline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F7F1D2-085B-5F66-14F7-E6B37F1AE8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449" y="0"/>
            <a:ext cx="8027101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F8563E3-EB74-B8F9-3567-5656F29AC072}"/>
              </a:ext>
            </a:extLst>
          </p:cNvPr>
          <p:cNvSpPr txBox="1">
            <a:spLocks/>
          </p:cNvSpPr>
          <p:nvPr/>
        </p:nvSpPr>
        <p:spPr>
          <a:xfrm>
            <a:off x="1070581" y="1752347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xpo Book SSi" panose="020B0800000000000000" pitchFamily="34" charset="0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28512834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3EC40-EDE8-37C1-D284-2F4A2D06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F91AE2-BFDA-A278-B208-42662C6D54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EA9AEC-75E1-5E82-C292-120DDDB53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874" y="-2502749"/>
            <a:ext cx="10166252" cy="2387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Emotional Speech Detector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80FBC97-8391-4965-1FF4-AAC857F97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7718" y="7265270"/>
            <a:ext cx="1676400" cy="38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8150FF-BD5C-BD9F-BAC9-AC1870CC59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963930"/>
            <a:ext cx="4271689" cy="98368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CCEBB3B-FB00-4723-0CEA-CFE6AD9C531D}"/>
              </a:ext>
            </a:extLst>
          </p:cNvPr>
          <p:cNvSpPr txBox="1">
            <a:spLocks/>
          </p:cNvSpPr>
          <p:nvPr/>
        </p:nvSpPr>
        <p:spPr>
          <a:xfrm>
            <a:off x="1012874" y="1259095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Outline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D56634-4FCD-C939-97FD-83113EDF93A7}"/>
              </a:ext>
            </a:extLst>
          </p:cNvPr>
          <p:cNvSpPr/>
          <p:nvPr/>
        </p:nvSpPr>
        <p:spPr>
          <a:xfrm>
            <a:off x="990603" y="6926852"/>
            <a:ext cx="4564745" cy="1695073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1</a:t>
            </a:r>
          </a:p>
          <a:p>
            <a:pPr algn="ctr"/>
            <a:r>
              <a:rPr lang="en-US" sz="2800" dirty="0">
                <a:latin typeface="Expo Book SSi" panose="020B0800000000000000" pitchFamily="34" charset="0"/>
              </a:rPr>
              <a:t>Introduction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10628C-4803-44BF-630A-3B89CAB34AB0}"/>
              </a:ext>
            </a:extLst>
          </p:cNvPr>
          <p:cNvSpPr/>
          <p:nvPr/>
        </p:nvSpPr>
        <p:spPr>
          <a:xfrm>
            <a:off x="990603" y="9165792"/>
            <a:ext cx="4564743" cy="1695073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3</a:t>
            </a:r>
          </a:p>
          <a:p>
            <a:pPr algn="ctr"/>
            <a:r>
              <a:rPr lang="en-US" sz="2800" dirty="0">
                <a:latin typeface="Expo Book SSi" panose="020B0800000000000000" pitchFamily="34" charset="0"/>
              </a:rPr>
              <a:t>Implementation and Results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B4ADAC-5890-C665-6C15-7603317FCAFC}"/>
              </a:ext>
            </a:extLst>
          </p:cNvPr>
          <p:cNvSpPr/>
          <p:nvPr/>
        </p:nvSpPr>
        <p:spPr>
          <a:xfrm>
            <a:off x="6941459" y="9163751"/>
            <a:ext cx="4564742" cy="1695073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  <a:p>
            <a:pPr algn="ctr"/>
            <a:r>
              <a:rPr lang="en-US" sz="2800" dirty="0"/>
              <a:t>Model Demonstration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B25CCD-BCB4-ED64-FC21-28047383CE16}"/>
              </a:ext>
            </a:extLst>
          </p:cNvPr>
          <p:cNvSpPr/>
          <p:nvPr/>
        </p:nvSpPr>
        <p:spPr>
          <a:xfrm>
            <a:off x="6941457" y="6926852"/>
            <a:ext cx="4564744" cy="1695073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2</a:t>
            </a:r>
          </a:p>
          <a:p>
            <a:pPr algn="ctr"/>
            <a:r>
              <a:rPr lang="en-US" sz="2800" dirty="0">
                <a:latin typeface="Expo Book SSi" panose="020B0800000000000000" pitchFamily="34" charset="0"/>
              </a:rPr>
              <a:t>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C204FA-7321-EE1E-CBA8-C7A06721C1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5507717" y="-1218181"/>
            <a:ext cx="1176565" cy="100520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BABDF10-15DB-BE3C-AEDF-9A90E9BD164A}"/>
              </a:ext>
            </a:extLst>
          </p:cNvPr>
          <p:cNvSpPr txBox="1">
            <a:spLocks/>
          </p:cNvSpPr>
          <p:nvPr/>
        </p:nvSpPr>
        <p:spPr>
          <a:xfrm>
            <a:off x="10764633" y="1752347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xpo Book SSi" panose="020B0800000000000000" pitchFamily="34" charset="0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851097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37EB0-EC3C-2169-0E34-CAD5AD5E4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36448B-9EC9-CC8F-7017-EDEF7DE8E256}"/>
              </a:ext>
            </a:extLst>
          </p:cNvPr>
          <p:cNvSpPr/>
          <p:nvPr/>
        </p:nvSpPr>
        <p:spPr>
          <a:xfrm>
            <a:off x="0" y="0"/>
            <a:ext cx="12192000" cy="1654629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8003EF-4EE3-F952-BDFC-A35EE8BF0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874" y="-2502749"/>
            <a:ext cx="10166252" cy="2387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Emotional Speech Detector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8B12E-C897-E25A-5C44-1FF6ED41E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0" y="3429000"/>
            <a:ext cx="9144000" cy="4353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Expo Book SSi" panose="020B0800000000000000" pitchFamily="34" charset="0"/>
              </a:rPr>
              <a:t>Capstone Project – AI Bootcamp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3DA1CA2-0D94-8D91-CD1D-3A193A5350B0}"/>
              </a:ext>
            </a:extLst>
          </p:cNvPr>
          <p:cNvSpPr txBox="1">
            <a:spLocks/>
          </p:cNvSpPr>
          <p:nvPr/>
        </p:nvSpPr>
        <p:spPr>
          <a:xfrm>
            <a:off x="-7939314" y="4002865"/>
            <a:ext cx="9144000" cy="435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800" dirty="0">
                <a:solidFill>
                  <a:schemeClr val="bg1"/>
                </a:solidFill>
                <a:latin typeface="Expo Book SSi" panose="020B0800000000000000" pitchFamily="34" charset="0"/>
              </a:rPr>
              <a:t>Reem Basho, Yasmine Hariri, Rand Al Yaman, &amp; Mahdi Dagher</a:t>
            </a:r>
            <a:endParaRPr lang="en-US" sz="1800" dirty="0">
              <a:solidFill>
                <a:schemeClr val="bg1"/>
              </a:solidFill>
              <a:latin typeface="Expo Book SSi" panose="020B0800000000000000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3CD8E0F-1A91-290A-72BD-951AA80A6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7718" y="7265270"/>
            <a:ext cx="1676400" cy="38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9C01CE-41C4-C79A-0F64-8A3D7BAEF4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963930"/>
            <a:ext cx="4271689" cy="98368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F044D73-9B3E-9DAC-CC41-080DDE657F83}"/>
              </a:ext>
            </a:extLst>
          </p:cNvPr>
          <p:cNvSpPr txBox="1">
            <a:spLocks/>
          </p:cNvSpPr>
          <p:nvPr/>
        </p:nvSpPr>
        <p:spPr>
          <a:xfrm>
            <a:off x="1012874" y="-1105314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Outline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BEBB43-3651-B7EA-E1ED-15BD11681881}"/>
              </a:ext>
            </a:extLst>
          </p:cNvPr>
          <p:cNvSpPr/>
          <p:nvPr/>
        </p:nvSpPr>
        <p:spPr>
          <a:xfrm>
            <a:off x="838201" y="2307792"/>
            <a:ext cx="4564745" cy="1695073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1</a:t>
            </a:r>
          </a:p>
          <a:p>
            <a:pPr algn="ctr"/>
            <a:r>
              <a:rPr lang="en-US" sz="2800" dirty="0">
                <a:latin typeface="Expo Book SSi" panose="020B0800000000000000" pitchFamily="34" charset="0"/>
              </a:rPr>
              <a:t>Introduction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D675F3-69D9-DC70-8E7C-F217AD38763C}"/>
              </a:ext>
            </a:extLst>
          </p:cNvPr>
          <p:cNvSpPr/>
          <p:nvPr/>
        </p:nvSpPr>
        <p:spPr>
          <a:xfrm>
            <a:off x="838201" y="4546732"/>
            <a:ext cx="4564743" cy="1695073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3</a:t>
            </a:r>
          </a:p>
          <a:p>
            <a:pPr algn="ctr"/>
            <a:r>
              <a:rPr lang="en-US" sz="2800" dirty="0">
                <a:latin typeface="Expo Book SSi" panose="020B0800000000000000" pitchFamily="34" charset="0"/>
              </a:rPr>
              <a:t>Implementation and Results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E6ED3C-6617-A1B2-F057-DD6306792064}"/>
              </a:ext>
            </a:extLst>
          </p:cNvPr>
          <p:cNvSpPr/>
          <p:nvPr/>
        </p:nvSpPr>
        <p:spPr>
          <a:xfrm>
            <a:off x="6789057" y="4544691"/>
            <a:ext cx="4564742" cy="1695073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  <a:p>
            <a:pPr algn="ctr"/>
            <a:r>
              <a:rPr lang="en-US" sz="2800" dirty="0"/>
              <a:t>Model Demonstration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28E66E-0075-92A5-1249-F58E28D05164}"/>
              </a:ext>
            </a:extLst>
          </p:cNvPr>
          <p:cNvSpPr/>
          <p:nvPr/>
        </p:nvSpPr>
        <p:spPr>
          <a:xfrm>
            <a:off x="6789055" y="2307792"/>
            <a:ext cx="4564744" cy="1695073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2</a:t>
            </a:r>
          </a:p>
          <a:p>
            <a:pPr algn="ctr"/>
            <a:r>
              <a:rPr lang="en-US" sz="2800" dirty="0">
                <a:latin typeface="Expo Book SSi" panose="020B0800000000000000" pitchFamily="34" charset="0"/>
              </a:rPr>
              <a:t>Methodology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D89E40F-6875-BF79-96C9-0D4A2DE82030}"/>
              </a:ext>
            </a:extLst>
          </p:cNvPr>
          <p:cNvSpPr txBox="1">
            <a:spLocks/>
          </p:cNvSpPr>
          <p:nvPr/>
        </p:nvSpPr>
        <p:spPr>
          <a:xfrm>
            <a:off x="1012874" y="-2316577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288615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7FFF4-54A3-7163-C195-4142E31BD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A7F808-E3B4-9C83-B5DF-28A7106238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CE3B7-FC84-11B2-AD43-A49DF26BF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874" y="-2502749"/>
            <a:ext cx="10166252" cy="2387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Emotional Speech Detector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F9E59A-E269-B20D-C9CA-941AB0701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0" y="3429000"/>
            <a:ext cx="9144000" cy="4353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Expo Book SSi" panose="020B0800000000000000" pitchFamily="34" charset="0"/>
              </a:rPr>
              <a:t>Capstone Project – AI Bootcamp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A01B15E-363A-490A-A828-79B32473929C}"/>
              </a:ext>
            </a:extLst>
          </p:cNvPr>
          <p:cNvSpPr txBox="1">
            <a:spLocks/>
          </p:cNvSpPr>
          <p:nvPr/>
        </p:nvSpPr>
        <p:spPr>
          <a:xfrm>
            <a:off x="-7939314" y="4002865"/>
            <a:ext cx="9144000" cy="435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800" dirty="0">
                <a:solidFill>
                  <a:schemeClr val="bg1"/>
                </a:solidFill>
                <a:latin typeface="Expo Book SSi" panose="020B0800000000000000" pitchFamily="34" charset="0"/>
              </a:rPr>
              <a:t>Reem Basho, Yasmine Hariri, Rand Al Yaman, &amp; Mahdi Dagher</a:t>
            </a:r>
            <a:endParaRPr lang="en-US" sz="1800" dirty="0">
              <a:solidFill>
                <a:schemeClr val="bg1"/>
              </a:solidFill>
              <a:latin typeface="Expo Book SSi" panose="020B0800000000000000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880ACB9-A9C3-D200-9064-14992F6AD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7718" y="7265270"/>
            <a:ext cx="1676400" cy="38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B4628C-FD06-F459-59CF-66354DE7A6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963930"/>
            <a:ext cx="4271689" cy="98368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B2EC8E2-F136-09BE-D86E-DCA7BC5E7FD6}"/>
              </a:ext>
            </a:extLst>
          </p:cNvPr>
          <p:cNvSpPr txBox="1">
            <a:spLocks/>
          </p:cNvSpPr>
          <p:nvPr/>
        </p:nvSpPr>
        <p:spPr>
          <a:xfrm>
            <a:off x="1012874" y="5717165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Outline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4275D9-4C88-C9E8-0A21-782933FA8FED}"/>
              </a:ext>
            </a:extLst>
          </p:cNvPr>
          <p:cNvSpPr/>
          <p:nvPr/>
        </p:nvSpPr>
        <p:spPr>
          <a:xfrm>
            <a:off x="867230" y="6963930"/>
            <a:ext cx="4564745" cy="1695073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1</a:t>
            </a:r>
          </a:p>
          <a:p>
            <a:pPr algn="ctr"/>
            <a:r>
              <a:rPr lang="en-US" sz="2800" dirty="0">
                <a:latin typeface="Expo Book SSi" panose="020B0800000000000000" pitchFamily="34" charset="0"/>
              </a:rPr>
              <a:t>Introduction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3D4800C-81BA-D770-D655-963A360593C5}"/>
              </a:ext>
            </a:extLst>
          </p:cNvPr>
          <p:cNvSpPr/>
          <p:nvPr/>
        </p:nvSpPr>
        <p:spPr>
          <a:xfrm>
            <a:off x="867230" y="9202870"/>
            <a:ext cx="4564743" cy="1695073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3</a:t>
            </a:r>
          </a:p>
          <a:p>
            <a:pPr algn="ctr"/>
            <a:r>
              <a:rPr lang="en-US" sz="2800" dirty="0">
                <a:latin typeface="Expo Book SSi" panose="020B0800000000000000" pitchFamily="34" charset="0"/>
              </a:rPr>
              <a:t>Implementation and Results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D66658C-8173-1103-FB48-786DA0CB82E9}"/>
              </a:ext>
            </a:extLst>
          </p:cNvPr>
          <p:cNvSpPr/>
          <p:nvPr/>
        </p:nvSpPr>
        <p:spPr>
          <a:xfrm>
            <a:off x="6818086" y="9200829"/>
            <a:ext cx="4564742" cy="1695073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  <a:p>
            <a:pPr algn="ctr"/>
            <a:r>
              <a:rPr lang="en-US" sz="2800" dirty="0"/>
              <a:t>Model Demonstration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3BC068C-EE8E-289F-547D-2AD97635666E}"/>
              </a:ext>
            </a:extLst>
          </p:cNvPr>
          <p:cNvSpPr/>
          <p:nvPr/>
        </p:nvSpPr>
        <p:spPr>
          <a:xfrm>
            <a:off x="6818084" y="6963930"/>
            <a:ext cx="4564744" cy="1695073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2</a:t>
            </a:r>
          </a:p>
          <a:p>
            <a:pPr algn="ctr"/>
            <a:r>
              <a:rPr lang="en-US" sz="2800" dirty="0">
                <a:latin typeface="Expo Book SSi" panose="020B0800000000000000" pitchFamily="34" charset="0"/>
              </a:rPr>
              <a:t>Methodology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88563C5-D443-F0DE-5BB4-163CBB2F0596}"/>
              </a:ext>
            </a:extLst>
          </p:cNvPr>
          <p:cNvSpPr txBox="1">
            <a:spLocks/>
          </p:cNvSpPr>
          <p:nvPr/>
        </p:nvSpPr>
        <p:spPr>
          <a:xfrm>
            <a:off x="1012874" y="147679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Introduction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6FEB918-F161-0197-6459-36890789B9C9}"/>
              </a:ext>
            </a:extLst>
          </p:cNvPr>
          <p:cNvSpPr/>
          <p:nvPr/>
        </p:nvSpPr>
        <p:spPr>
          <a:xfrm>
            <a:off x="-7549242" y="1577664"/>
            <a:ext cx="7159170" cy="847537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Importance of Emotional Speech Detection</a:t>
            </a:r>
            <a:r>
              <a:rPr lang="en-US" dirty="0"/>
              <a:t>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0D40E60-80AE-2920-2D3E-A3F189CB697C}"/>
              </a:ext>
            </a:extLst>
          </p:cNvPr>
          <p:cNvSpPr/>
          <p:nvPr/>
        </p:nvSpPr>
        <p:spPr>
          <a:xfrm>
            <a:off x="12427859" y="2581463"/>
            <a:ext cx="7159170" cy="847537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Problems and Challenges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D89E86-CF67-33F1-C059-0E3AB9E35BFF}"/>
              </a:ext>
            </a:extLst>
          </p:cNvPr>
          <p:cNvSpPr/>
          <p:nvPr/>
        </p:nvSpPr>
        <p:spPr>
          <a:xfrm>
            <a:off x="-7549242" y="3509859"/>
            <a:ext cx="7159170" cy="847537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Objectives of the Project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39E74B4-346B-3C4D-27C3-6D8E1D1372EA}"/>
              </a:ext>
            </a:extLst>
          </p:cNvPr>
          <p:cNvSpPr/>
          <p:nvPr/>
        </p:nvSpPr>
        <p:spPr>
          <a:xfrm>
            <a:off x="12527645" y="4513657"/>
            <a:ext cx="7159170" cy="847537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Literature Gap and Novelty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B290217-E6FE-2027-B573-93177943F522}"/>
              </a:ext>
            </a:extLst>
          </p:cNvPr>
          <p:cNvSpPr/>
          <p:nvPr/>
        </p:nvSpPr>
        <p:spPr>
          <a:xfrm>
            <a:off x="-7494815" y="5592150"/>
            <a:ext cx="7159170" cy="847537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Literature Gap and Novelty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F947FF-6329-FD14-F28D-E97E245A1B3F}"/>
              </a:ext>
            </a:extLst>
          </p:cNvPr>
          <p:cNvSpPr/>
          <p:nvPr/>
        </p:nvSpPr>
        <p:spPr>
          <a:xfrm>
            <a:off x="-7494815" y="5580529"/>
            <a:ext cx="7258956" cy="847537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Contributions of This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6315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50731-39DC-FD76-8F42-CC0DE1EA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DDF1FB-A3A7-883D-7C82-83C9FBDC29C3}"/>
              </a:ext>
            </a:extLst>
          </p:cNvPr>
          <p:cNvSpPr/>
          <p:nvPr/>
        </p:nvSpPr>
        <p:spPr>
          <a:xfrm>
            <a:off x="0" y="0"/>
            <a:ext cx="12192000" cy="1476790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A8EE5B-7510-F15D-0849-54974A318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874" y="-2502749"/>
            <a:ext cx="10166252" cy="2387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Emotional Speech Detector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6CDA9-221F-2877-51AA-D8FE1B153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0" y="3429000"/>
            <a:ext cx="9144000" cy="4353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Expo Book SSi" panose="020B0800000000000000" pitchFamily="34" charset="0"/>
              </a:rPr>
              <a:t>Capstone Project – AI Bootcamp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D54621E-B9EF-53DB-02FA-83907DE1F6B0}"/>
              </a:ext>
            </a:extLst>
          </p:cNvPr>
          <p:cNvSpPr txBox="1">
            <a:spLocks/>
          </p:cNvSpPr>
          <p:nvPr/>
        </p:nvSpPr>
        <p:spPr>
          <a:xfrm>
            <a:off x="-7939314" y="4002865"/>
            <a:ext cx="9144000" cy="435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800" dirty="0">
                <a:solidFill>
                  <a:schemeClr val="bg1"/>
                </a:solidFill>
                <a:latin typeface="Expo Book SSi" panose="020B0800000000000000" pitchFamily="34" charset="0"/>
              </a:rPr>
              <a:t>Reem Basho, Yasmine Hariri, Rand Al Yaman, &amp; Mahdi Dagher</a:t>
            </a:r>
            <a:endParaRPr lang="en-US" sz="1800" dirty="0">
              <a:solidFill>
                <a:schemeClr val="bg1"/>
              </a:solidFill>
              <a:latin typeface="Expo Book SSi" panose="020B0800000000000000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A903BCA-B255-FEE8-73D1-6D5B329BEC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7718" y="7265270"/>
            <a:ext cx="1676400" cy="38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42C4EE-2638-9DD4-FDAC-1D919DC0DB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963930"/>
            <a:ext cx="4271689" cy="98368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7B1AC12-16D4-7EFA-1CCA-B4884AA314B5}"/>
              </a:ext>
            </a:extLst>
          </p:cNvPr>
          <p:cNvSpPr txBox="1">
            <a:spLocks/>
          </p:cNvSpPr>
          <p:nvPr/>
        </p:nvSpPr>
        <p:spPr>
          <a:xfrm>
            <a:off x="1012874" y="5717165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Outline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C9780A-F037-64F3-6AFF-C24CA672BB28}"/>
              </a:ext>
            </a:extLst>
          </p:cNvPr>
          <p:cNvSpPr/>
          <p:nvPr/>
        </p:nvSpPr>
        <p:spPr>
          <a:xfrm>
            <a:off x="199573" y="1670553"/>
            <a:ext cx="11767456" cy="847537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Importance of Emotional Speech Detection</a:t>
            </a:r>
            <a:r>
              <a:rPr lang="en-US" dirty="0"/>
              <a:t>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17C5585-CA34-6CEF-4A76-BE924A10C35A}"/>
              </a:ext>
            </a:extLst>
          </p:cNvPr>
          <p:cNvSpPr/>
          <p:nvPr/>
        </p:nvSpPr>
        <p:spPr>
          <a:xfrm>
            <a:off x="867230" y="9202870"/>
            <a:ext cx="4564743" cy="1695073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3</a:t>
            </a:r>
          </a:p>
          <a:p>
            <a:pPr algn="ctr"/>
            <a:r>
              <a:rPr lang="en-US" sz="2800" dirty="0">
                <a:latin typeface="Expo Book SSi" panose="020B0800000000000000" pitchFamily="34" charset="0"/>
              </a:rPr>
              <a:t>Implementation and Results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745892-29AF-E1F6-C9DF-015095CCD93D}"/>
              </a:ext>
            </a:extLst>
          </p:cNvPr>
          <p:cNvSpPr/>
          <p:nvPr/>
        </p:nvSpPr>
        <p:spPr>
          <a:xfrm>
            <a:off x="6818086" y="9200829"/>
            <a:ext cx="4564742" cy="1695073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  <a:p>
            <a:pPr algn="ctr"/>
            <a:r>
              <a:rPr lang="en-US" sz="2800" dirty="0"/>
              <a:t>Model Demonstration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2117375-054D-AD9A-5201-44D53A794EA8}"/>
              </a:ext>
            </a:extLst>
          </p:cNvPr>
          <p:cNvSpPr/>
          <p:nvPr/>
        </p:nvSpPr>
        <p:spPr>
          <a:xfrm>
            <a:off x="6818084" y="6963930"/>
            <a:ext cx="4564744" cy="1695073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2</a:t>
            </a:r>
          </a:p>
          <a:p>
            <a:pPr algn="ctr"/>
            <a:r>
              <a:rPr lang="en-US" sz="2800" dirty="0">
                <a:latin typeface="Expo Book SSi" panose="020B0800000000000000" pitchFamily="34" charset="0"/>
              </a:rPr>
              <a:t>Methodology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AC3588E-22CC-2153-3203-76D42A30CD5E}"/>
              </a:ext>
            </a:extLst>
          </p:cNvPr>
          <p:cNvSpPr txBox="1">
            <a:spLocks/>
          </p:cNvSpPr>
          <p:nvPr/>
        </p:nvSpPr>
        <p:spPr>
          <a:xfrm>
            <a:off x="1012874" y="-1128305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Introduction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E877D21-E614-0B81-72A8-CA01432D1FB2}"/>
              </a:ext>
            </a:extLst>
          </p:cNvPr>
          <p:cNvSpPr/>
          <p:nvPr/>
        </p:nvSpPr>
        <p:spPr>
          <a:xfrm>
            <a:off x="199573" y="2629224"/>
            <a:ext cx="11767456" cy="847537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Problems and Challenges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ED180E4-75CD-18DB-4544-D7B56B5A052F}"/>
              </a:ext>
            </a:extLst>
          </p:cNvPr>
          <p:cNvSpPr/>
          <p:nvPr/>
        </p:nvSpPr>
        <p:spPr>
          <a:xfrm>
            <a:off x="199572" y="3606365"/>
            <a:ext cx="11767455" cy="847537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Objectives of the Project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4A9D206-B70F-39C1-A429-5D7DB3AAA2B9}"/>
              </a:ext>
            </a:extLst>
          </p:cNvPr>
          <p:cNvSpPr/>
          <p:nvPr/>
        </p:nvSpPr>
        <p:spPr>
          <a:xfrm>
            <a:off x="199572" y="4565036"/>
            <a:ext cx="11767457" cy="847537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Literature Gap and Novelty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96DB095-2B33-3B84-DFA2-3775676B77B1}"/>
              </a:ext>
            </a:extLst>
          </p:cNvPr>
          <p:cNvSpPr/>
          <p:nvPr/>
        </p:nvSpPr>
        <p:spPr>
          <a:xfrm>
            <a:off x="199573" y="5500492"/>
            <a:ext cx="11767454" cy="847537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Contributions of This Project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D9DEA79-A028-956A-FD66-17B42D51F340}"/>
              </a:ext>
            </a:extLst>
          </p:cNvPr>
          <p:cNvSpPr txBox="1">
            <a:spLocks/>
          </p:cNvSpPr>
          <p:nvPr/>
        </p:nvSpPr>
        <p:spPr>
          <a:xfrm>
            <a:off x="1204686" y="5423866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33307838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1C8BA-A822-BE9E-394F-42F1795F8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192262-8E97-1D1F-DCA1-0A3144C73F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BA5113A-BF38-9C88-8C0F-EAC9FE39FDCD}"/>
              </a:ext>
            </a:extLst>
          </p:cNvPr>
          <p:cNvSpPr txBox="1">
            <a:spLocks/>
          </p:cNvSpPr>
          <p:nvPr/>
        </p:nvSpPr>
        <p:spPr>
          <a:xfrm>
            <a:off x="1012874" y="-238760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Introduction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F760980-E050-3EEB-444B-EAEA6350DD25}"/>
              </a:ext>
            </a:extLst>
          </p:cNvPr>
          <p:cNvSpPr/>
          <p:nvPr/>
        </p:nvSpPr>
        <p:spPr>
          <a:xfrm>
            <a:off x="12362544" y="1605358"/>
            <a:ext cx="11767456" cy="847537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Importance of Emotional Speech Detection</a:t>
            </a:r>
            <a:r>
              <a:rPr lang="en-US" dirty="0"/>
              <a:t>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2CC0EB1-0B0D-744C-4EEA-DF84633C5157}"/>
              </a:ext>
            </a:extLst>
          </p:cNvPr>
          <p:cNvSpPr/>
          <p:nvPr/>
        </p:nvSpPr>
        <p:spPr>
          <a:xfrm>
            <a:off x="-11948884" y="2581463"/>
            <a:ext cx="11767456" cy="847537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Problems and Challenges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C7196D1-CE72-D475-0568-83300BD45ED6}"/>
              </a:ext>
            </a:extLst>
          </p:cNvPr>
          <p:cNvSpPr/>
          <p:nvPr/>
        </p:nvSpPr>
        <p:spPr>
          <a:xfrm>
            <a:off x="12362545" y="3558612"/>
            <a:ext cx="11767455" cy="847537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Objectives of the Project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E2AB742-77C2-314B-F82A-B032A63ABCFB}"/>
              </a:ext>
            </a:extLst>
          </p:cNvPr>
          <p:cNvSpPr/>
          <p:nvPr/>
        </p:nvSpPr>
        <p:spPr>
          <a:xfrm>
            <a:off x="-11948884" y="4545605"/>
            <a:ext cx="11767457" cy="847537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Literature Gap and Novelty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444B878-70BE-34B1-B973-32967D66D0A4}"/>
              </a:ext>
            </a:extLst>
          </p:cNvPr>
          <p:cNvSpPr/>
          <p:nvPr/>
        </p:nvSpPr>
        <p:spPr>
          <a:xfrm>
            <a:off x="12362544" y="5511866"/>
            <a:ext cx="11767454" cy="847537"/>
          </a:xfrm>
          <a:prstGeom prst="roundRect">
            <a:avLst/>
          </a:prstGeom>
          <a:gradFill>
            <a:gsLst>
              <a:gs pos="0">
                <a:srgbClr val="B71F3C"/>
              </a:gs>
              <a:gs pos="100000">
                <a:srgbClr val="FF8C1A"/>
              </a:gs>
            </a:gsLst>
            <a:lin ang="5400000" scaled="1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Literature Gap and Novelty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CED7CBA-2FDD-7F43-2EC4-46C8835711C2}"/>
              </a:ext>
            </a:extLst>
          </p:cNvPr>
          <p:cNvSpPr txBox="1">
            <a:spLocks/>
          </p:cNvSpPr>
          <p:nvPr/>
        </p:nvSpPr>
        <p:spPr>
          <a:xfrm>
            <a:off x="1012874" y="159478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Methodology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208C12A7-BBEA-33C1-6F87-7E14C08F4715}"/>
              </a:ext>
            </a:extLst>
          </p:cNvPr>
          <p:cNvSpPr txBox="1">
            <a:spLocks/>
          </p:cNvSpPr>
          <p:nvPr/>
        </p:nvSpPr>
        <p:spPr>
          <a:xfrm>
            <a:off x="-7228785" y="1464858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Datasets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160BE1A6-A846-74FC-0615-F83FA9350BEA}"/>
              </a:ext>
            </a:extLst>
          </p:cNvPr>
          <p:cNvSpPr txBox="1">
            <a:spLocks/>
          </p:cNvSpPr>
          <p:nvPr/>
        </p:nvSpPr>
        <p:spPr>
          <a:xfrm>
            <a:off x="-13830217" y="-1269315"/>
            <a:ext cx="1581677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  <a:latin typeface="Expo Book SSi" panose="020B0800000000000000" pitchFamily="34" charset="0"/>
              </a:rPr>
              <a:t>Materials, Software, and Equipment Used</a:t>
            </a:r>
          </a:p>
        </p:txBody>
      </p:sp>
    </p:spTree>
    <p:extLst>
      <p:ext uri="{BB962C8B-B14F-4D97-AF65-F5344CB8AC3E}">
        <p14:creationId xmlns:p14="http://schemas.microsoft.com/office/powerpoint/2010/main" val="26833048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C3F3F-0A4B-3D20-2CEC-DDDFCB1E0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927B3A-9586-8903-9F88-6885642ED53D}"/>
              </a:ext>
            </a:extLst>
          </p:cNvPr>
          <p:cNvSpPr/>
          <p:nvPr/>
        </p:nvSpPr>
        <p:spPr>
          <a:xfrm>
            <a:off x="0" y="0"/>
            <a:ext cx="12192000" cy="1538514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CC32B08-2170-61E7-01AB-20A3E594DFBE}"/>
              </a:ext>
            </a:extLst>
          </p:cNvPr>
          <p:cNvSpPr txBox="1">
            <a:spLocks/>
          </p:cNvSpPr>
          <p:nvPr/>
        </p:nvSpPr>
        <p:spPr>
          <a:xfrm>
            <a:off x="1012874" y="-238760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Introduction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9ABB467-7E93-62EB-AE30-2708E8BBC15B}"/>
              </a:ext>
            </a:extLst>
          </p:cNvPr>
          <p:cNvSpPr txBox="1">
            <a:spLocks/>
          </p:cNvSpPr>
          <p:nvPr/>
        </p:nvSpPr>
        <p:spPr>
          <a:xfrm>
            <a:off x="1012874" y="-238760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Methodology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AC1614-6734-BC8A-ACA3-4D7FCEC673D4}"/>
              </a:ext>
            </a:extLst>
          </p:cNvPr>
          <p:cNvSpPr txBox="1">
            <a:spLocks/>
          </p:cNvSpPr>
          <p:nvPr/>
        </p:nvSpPr>
        <p:spPr>
          <a:xfrm>
            <a:off x="-1812388" y="-1193800"/>
            <a:ext cx="1581677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  <a:latin typeface="Expo Book SSi" panose="020B0800000000000000" pitchFamily="34" charset="0"/>
              </a:rPr>
              <a:t>Materials, Software, and Equipment Used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31D8CF-0712-03FD-E92F-B0260DB13BD7}"/>
              </a:ext>
            </a:extLst>
          </p:cNvPr>
          <p:cNvSpPr/>
          <p:nvPr/>
        </p:nvSpPr>
        <p:spPr>
          <a:xfrm>
            <a:off x="785531" y="1997318"/>
            <a:ext cx="4564745" cy="1695073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path path="circle">
              <a:fillToRect l="100000" t="100000"/>
            </a:path>
            <a:tileRect r="-100000" b="-100000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1</a:t>
            </a:r>
          </a:p>
          <a:p>
            <a:pPr algn="ctr"/>
            <a:r>
              <a:rPr lang="en-US" sz="2800" dirty="0">
                <a:latin typeface="Expo Book SSi" panose="020B0800000000000000" pitchFamily="34" charset="0"/>
              </a:rPr>
              <a:t>Software and Libraries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5E91E4-01B8-9E6D-C9AD-2DDEA4D2BD4E}"/>
              </a:ext>
            </a:extLst>
          </p:cNvPr>
          <p:cNvSpPr/>
          <p:nvPr/>
        </p:nvSpPr>
        <p:spPr>
          <a:xfrm>
            <a:off x="6841725" y="1997317"/>
            <a:ext cx="4564744" cy="1695073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2</a:t>
            </a:r>
          </a:p>
          <a:p>
            <a:pPr algn="ctr"/>
            <a:r>
              <a:rPr lang="en-US" sz="2800" dirty="0">
                <a:latin typeface="Expo Book SSi" panose="020B0800000000000000" pitchFamily="34" charset="0"/>
              </a:rPr>
              <a:t>Preprocessing pipeline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2C19004-1138-2CC8-1595-495484DDC222}"/>
              </a:ext>
            </a:extLst>
          </p:cNvPr>
          <p:cNvSpPr/>
          <p:nvPr/>
        </p:nvSpPr>
        <p:spPr>
          <a:xfrm>
            <a:off x="785531" y="4038654"/>
            <a:ext cx="10620938" cy="1695073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path path="circle">
              <a:fillToRect l="100000" t="100000"/>
            </a:path>
            <a:tileRect r="-100000" b="-100000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3</a:t>
            </a:r>
          </a:p>
          <a:p>
            <a:pPr algn="ctr"/>
            <a:r>
              <a:rPr lang="en-US" sz="2800" dirty="0">
                <a:latin typeface="Expo Book SSi" panose="020B0800000000000000" pitchFamily="34" charset="0"/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6588661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9E31B-69A9-A770-B9F5-5E220A791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22D693-7F71-8ECC-F8BE-A92FA7075E46}"/>
              </a:ext>
            </a:extLst>
          </p:cNvPr>
          <p:cNvSpPr/>
          <p:nvPr/>
        </p:nvSpPr>
        <p:spPr>
          <a:xfrm>
            <a:off x="0" y="0"/>
            <a:ext cx="12192000" cy="1538514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2D57ADF-E4A4-4D7D-1D12-190327888A62}"/>
              </a:ext>
            </a:extLst>
          </p:cNvPr>
          <p:cNvSpPr txBox="1">
            <a:spLocks/>
          </p:cNvSpPr>
          <p:nvPr/>
        </p:nvSpPr>
        <p:spPr>
          <a:xfrm>
            <a:off x="1012874" y="-238760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Introduction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D0B3345-22E4-ABCD-6E91-DCB3039961F5}"/>
              </a:ext>
            </a:extLst>
          </p:cNvPr>
          <p:cNvSpPr txBox="1">
            <a:spLocks/>
          </p:cNvSpPr>
          <p:nvPr/>
        </p:nvSpPr>
        <p:spPr>
          <a:xfrm>
            <a:off x="1012874" y="-238760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Methodology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938EA92-A308-F29D-FF1A-AEE98573EA97}"/>
              </a:ext>
            </a:extLst>
          </p:cNvPr>
          <p:cNvSpPr txBox="1">
            <a:spLocks/>
          </p:cNvSpPr>
          <p:nvPr/>
        </p:nvSpPr>
        <p:spPr>
          <a:xfrm>
            <a:off x="-1812388" y="-1193800"/>
            <a:ext cx="1581677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  <a:latin typeface="Expo Book SSi" panose="020B0800000000000000" pitchFamily="34" charset="0"/>
              </a:rPr>
              <a:t>Materials, Software, and Equipment Used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32F805-1D73-3232-8AE0-97AF4E8474F2}"/>
              </a:ext>
            </a:extLst>
          </p:cNvPr>
          <p:cNvSpPr/>
          <p:nvPr/>
        </p:nvSpPr>
        <p:spPr>
          <a:xfrm>
            <a:off x="134818" y="1741825"/>
            <a:ext cx="3297699" cy="2390549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path path="circle">
              <a:fillToRect l="100000" t="100000"/>
            </a:path>
            <a:tileRect r="-100000" b="-100000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1</a:t>
            </a:r>
          </a:p>
          <a:p>
            <a:pPr algn="ctr"/>
            <a:r>
              <a:rPr lang="en-US" sz="2800" dirty="0">
                <a:latin typeface="Expo Book SSi" panose="020B0800000000000000" pitchFamily="34" charset="0"/>
              </a:rPr>
              <a:t>Software and Libraries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26B21D-702B-0B8E-49C8-89AF8BE71AFC}"/>
              </a:ext>
            </a:extLst>
          </p:cNvPr>
          <p:cNvSpPr/>
          <p:nvPr/>
        </p:nvSpPr>
        <p:spPr>
          <a:xfrm>
            <a:off x="134818" y="4304762"/>
            <a:ext cx="2749060" cy="2390549"/>
          </a:xfrm>
          <a:prstGeom prst="roundRect">
            <a:avLst/>
          </a:prstGeom>
          <a:gradFill flip="none" rotWithShape="1">
            <a:gsLst>
              <a:gs pos="0">
                <a:srgbClr val="E76779"/>
              </a:gs>
              <a:gs pos="100000">
                <a:srgbClr val="FFBE7D"/>
              </a:gs>
            </a:gsLst>
            <a:lin ang="27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2</a:t>
            </a:r>
          </a:p>
          <a:p>
            <a:pPr algn="ctr"/>
            <a:r>
              <a:rPr lang="en-US" sz="2800" dirty="0">
                <a:latin typeface="Expo Book SSi" panose="020B0800000000000000" pitchFamily="34" charset="0"/>
              </a:rPr>
              <a:t>Preprocessing pipeline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940B06-2127-DABB-5E6C-34E11B9E0D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451" y="2165856"/>
            <a:ext cx="1543549" cy="8836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D29327-D0EE-3DC8-72EE-09F43B4A75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291" y="5508736"/>
            <a:ext cx="1239551" cy="123955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B8D3208-0537-6C70-C70E-C9BB17084C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15934" y="2091508"/>
            <a:ext cx="2168749" cy="8885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5DCCE19-C9A4-BD6F-A4F1-B2C495F4AB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075" y="1755182"/>
            <a:ext cx="1692647" cy="17779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719093D-242D-7E42-BF3F-489D691F25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484" y="3533087"/>
            <a:ext cx="2502350" cy="71241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FAC2D16-C635-E8EC-314D-DC8A5B9084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424" y="3514163"/>
            <a:ext cx="3438692" cy="75026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315888D-6513-F7B1-06C3-B5E147E80B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0986" y="5584043"/>
            <a:ext cx="1828131" cy="98619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01B6EC6-69D2-0D10-2775-43C2BBB1D75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484" y="4815510"/>
            <a:ext cx="2502350" cy="50047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D346F4E1-944E-E501-D1A3-8B69B03B177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48424" y="4527570"/>
            <a:ext cx="2749060" cy="78841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F301B54-0CC5-0D31-C4C1-31A0D5586C0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4673" y="4304763"/>
            <a:ext cx="968905" cy="104011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A930C70-B088-2E92-CAE9-B62FE5474B4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798" y="5741990"/>
            <a:ext cx="2856014" cy="82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538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6D934-A00A-C2BC-B96C-144E178AB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1EF070-FD3B-68B9-17E2-C53322B00FF3}"/>
              </a:ext>
            </a:extLst>
          </p:cNvPr>
          <p:cNvSpPr/>
          <p:nvPr/>
        </p:nvSpPr>
        <p:spPr>
          <a:xfrm>
            <a:off x="0" y="0"/>
            <a:ext cx="12192000" cy="1538514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24AB4B3-E345-3502-D170-46737F9ABA35}"/>
              </a:ext>
            </a:extLst>
          </p:cNvPr>
          <p:cNvSpPr txBox="1">
            <a:spLocks/>
          </p:cNvSpPr>
          <p:nvPr/>
        </p:nvSpPr>
        <p:spPr>
          <a:xfrm>
            <a:off x="1012874" y="-238760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Introduction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5409C54-4F57-1F31-9C44-7E2FA6E2A827}"/>
              </a:ext>
            </a:extLst>
          </p:cNvPr>
          <p:cNvSpPr txBox="1">
            <a:spLocks/>
          </p:cNvSpPr>
          <p:nvPr/>
        </p:nvSpPr>
        <p:spPr>
          <a:xfrm>
            <a:off x="1012874" y="-238760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Methodology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C58B64-032E-BA33-1249-07A959405969}"/>
              </a:ext>
            </a:extLst>
          </p:cNvPr>
          <p:cNvSpPr txBox="1">
            <a:spLocks/>
          </p:cNvSpPr>
          <p:nvPr/>
        </p:nvSpPr>
        <p:spPr>
          <a:xfrm>
            <a:off x="-1812388" y="-1193800"/>
            <a:ext cx="1581677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  <a:latin typeface="Expo Book SSi" panose="020B0800000000000000" pitchFamily="34" charset="0"/>
              </a:rPr>
              <a:t>Materials, Software, and Equipment Used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A246A4-77E0-F693-8A59-2105C0D1EAC9}"/>
              </a:ext>
            </a:extLst>
          </p:cNvPr>
          <p:cNvSpPr/>
          <p:nvPr/>
        </p:nvSpPr>
        <p:spPr>
          <a:xfrm>
            <a:off x="149197" y="1665221"/>
            <a:ext cx="2749060" cy="2126929"/>
          </a:xfrm>
          <a:prstGeom prst="roundRect">
            <a:avLst/>
          </a:prstGeom>
          <a:gradFill flip="none" rotWithShape="1">
            <a:gsLst>
              <a:gs pos="0">
                <a:srgbClr val="E56981"/>
              </a:gs>
              <a:gs pos="100000">
                <a:srgbClr val="FFB061"/>
              </a:gs>
            </a:gsLst>
            <a:path path="circle">
              <a:fillToRect l="100000" t="100000"/>
            </a:path>
            <a:tileRect r="-100000" b="-100000"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1</a:t>
            </a:r>
          </a:p>
          <a:p>
            <a:pPr algn="ctr"/>
            <a:r>
              <a:rPr lang="en-US" sz="2800" dirty="0">
                <a:latin typeface="Expo Book SSi" panose="020B0800000000000000" pitchFamily="34" charset="0"/>
              </a:rPr>
              <a:t>Software and Libraries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217760-62F9-424D-4218-FC652001C036}"/>
              </a:ext>
            </a:extLst>
          </p:cNvPr>
          <p:cNvSpPr/>
          <p:nvPr/>
        </p:nvSpPr>
        <p:spPr>
          <a:xfrm>
            <a:off x="149197" y="3918857"/>
            <a:ext cx="3297699" cy="2634971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2</a:t>
            </a:r>
          </a:p>
          <a:p>
            <a:pPr algn="ctr"/>
            <a:r>
              <a:rPr lang="en-US" sz="2800" dirty="0">
                <a:latin typeface="Expo Book SSi" panose="020B0800000000000000" pitchFamily="34" charset="0"/>
              </a:rPr>
              <a:t>Preprocessing pipeline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DFF035-226F-B2F8-60E7-D711CE814EB8}"/>
              </a:ext>
            </a:extLst>
          </p:cNvPr>
          <p:cNvSpPr txBox="1"/>
          <p:nvPr/>
        </p:nvSpPr>
        <p:spPr>
          <a:xfrm>
            <a:off x="3788230" y="1924608"/>
            <a:ext cx="7910286" cy="442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Standardized to 16 kHz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Removed silence (leading/trailing)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Wiener filtering for noise reduction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HP/LP filtering + peak normalization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Segmented into 3s windows (50% overlap)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Kept utterance segments together (no leakage)</a:t>
            </a:r>
          </a:p>
        </p:txBody>
      </p:sp>
    </p:spTree>
    <p:extLst>
      <p:ext uri="{BB962C8B-B14F-4D97-AF65-F5344CB8AC3E}">
        <p14:creationId xmlns:p14="http://schemas.microsoft.com/office/powerpoint/2010/main" val="34496605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185DE-5499-1773-0933-9EACE5BB7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C9ED2F-22F8-0FD0-E12E-582BE0246314}"/>
              </a:ext>
            </a:extLst>
          </p:cNvPr>
          <p:cNvSpPr/>
          <p:nvPr/>
        </p:nvSpPr>
        <p:spPr>
          <a:xfrm>
            <a:off x="0" y="0"/>
            <a:ext cx="12192000" cy="1538514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22ED96B-1CFC-82A4-3FE9-0FBF2117829A}"/>
              </a:ext>
            </a:extLst>
          </p:cNvPr>
          <p:cNvSpPr txBox="1">
            <a:spLocks/>
          </p:cNvSpPr>
          <p:nvPr/>
        </p:nvSpPr>
        <p:spPr>
          <a:xfrm>
            <a:off x="-1812388" y="-1193800"/>
            <a:ext cx="1581677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  <a:latin typeface="Expo Book SSi" panose="020B0800000000000000" pitchFamily="34" charset="0"/>
              </a:rPr>
              <a:t>Datasets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2A92CB1-EC7D-156E-371A-A4CD7FE27FBB}"/>
              </a:ext>
            </a:extLst>
          </p:cNvPr>
          <p:cNvSpPr/>
          <p:nvPr/>
        </p:nvSpPr>
        <p:spPr>
          <a:xfrm>
            <a:off x="529658" y="2926079"/>
            <a:ext cx="2635352" cy="2278968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Crema-D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7CB4FF2-2BD7-A886-8A28-0C753AB42E19}"/>
              </a:ext>
            </a:extLst>
          </p:cNvPr>
          <p:cNvSpPr/>
          <p:nvPr/>
        </p:nvSpPr>
        <p:spPr>
          <a:xfrm>
            <a:off x="9017833" y="2926079"/>
            <a:ext cx="2635352" cy="2278967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Emo-DB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4ED4780-CD9A-69C4-17DA-4CFABAC309F9}"/>
              </a:ext>
            </a:extLst>
          </p:cNvPr>
          <p:cNvSpPr/>
          <p:nvPr/>
        </p:nvSpPr>
        <p:spPr>
          <a:xfrm>
            <a:off x="4909400" y="2926079"/>
            <a:ext cx="2635352" cy="2278967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RAVDESS</a:t>
            </a:r>
            <a:endParaRPr lang="en-US" sz="2800" dirty="0">
              <a:latin typeface="Expo Book SSi" panose="020B08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2583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BF079-AA71-F72A-4CBD-3D0F4DEDE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85664A-C17E-EF00-B412-7A224320D524}"/>
              </a:ext>
            </a:extLst>
          </p:cNvPr>
          <p:cNvSpPr/>
          <p:nvPr/>
        </p:nvSpPr>
        <p:spPr>
          <a:xfrm>
            <a:off x="0" y="-1698170"/>
            <a:ext cx="12192000" cy="1538514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927733D2-2301-243F-FC80-3D2852EBF304}"/>
              </a:ext>
            </a:extLst>
          </p:cNvPr>
          <p:cNvSpPr txBox="1">
            <a:spLocks/>
          </p:cNvSpPr>
          <p:nvPr/>
        </p:nvSpPr>
        <p:spPr>
          <a:xfrm>
            <a:off x="-1812388" y="-2891970"/>
            <a:ext cx="1581677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  <a:latin typeface="Expo Book SSi" panose="020B0800000000000000" pitchFamily="34" charset="0"/>
              </a:rPr>
              <a:t>Datasets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6C2AAAF-8EB0-D12F-5457-EEA146FF3D8B}"/>
              </a:ext>
            </a:extLst>
          </p:cNvPr>
          <p:cNvSpPr/>
          <p:nvPr/>
        </p:nvSpPr>
        <p:spPr>
          <a:xfrm>
            <a:off x="538814" y="216579"/>
            <a:ext cx="6312152" cy="891027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Crema-D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23677EF-DCA4-8026-1BB2-18608F52D6B5}"/>
              </a:ext>
            </a:extLst>
          </p:cNvPr>
          <p:cNvSpPr/>
          <p:nvPr/>
        </p:nvSpPr>
        <p:spPr>
          <a:xfrm>
            <a:off x="9603545" y="216579"/>
            <a:ext cx="2049640" cy="891027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Emo-DB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3A5AC48-C7BD-865F-3C53-D95BB487AF20}"/>
              </a:ext>
            </a:extLst>
          </p:cNvPr>
          <p:cNvSpPr/>
          <p:nvPr/>
        </p:nvSpPr>
        <p:spPr>
          <a:xfrm>
            <a:off x="7202435" y="216578"/>
            <a:ext cx="2049640" cy="891027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RAVDESS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B53C03-8132-B75D-E05E-E59DDC54B6B1}"/>
              </a:ext>
            </a:extLst>
          </p:cNvPr>
          <p:cNvSpPr txBox="1"/>
          <p:nvPr/>
        </p:nvSpPr>
        <p:spPr>
          <a:xfrm>
            <a:off x="800183" y="2126511"/>
            <a:ext cx="5557186" cy="3687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Expo Book SSi" panose="020B0800000000000000" pitchFamily="34" charset="0"/>
              </a:rPr>
              <a:t>The CREMA-D dataset is a large, publicly available collection of audio-visual clips from 91 actors, designed for training and evaluating speech emotion recognition (SER) models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18C09B-1F5A-9F1E-3CB0-6AB4025B9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" b="28924"/>
          <a:stretch>
            <a:fillRect/>
          </a:stretch>
        </p:blipFill>
        <p:spPr>
          <a:xfrm>
            <a:off x="7202435" y="1392799"/>
            <a:ext cx="3847849" cy="515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961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0176E-6B1F-8DD1-50E2-478DC667A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62B743-E305-A064-6661-D6F5FB89B407}"/>
              </a:ext>
            </a:extLst>
          </p:cNvPr>
          <p:cNvSpPr/>
          <p:nvPr/>
        </p:nvSpPr>
        <p:spPr>
          <a:xfrm>
            <a:off x="0" y="-1712685"/>
            <a:ext cx="12192000" cy="1538514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EA59500D-97D4-2BB4-3B6F-96DB113FC55B}"/>
              </a:ext>
            </a:extLst>
          </p:cNvPr>
          <p:cNvSpPr txBox="1">
            <a:spLocks/>
          </p:cNvSpPr>
          <p:nvPr/>
        </p:nvSpPr>
        <p:spPr>
          <a:xfrm>
            <a:off x="-1812388" y="-2906485"/>
            <a:ext cx="1581677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  <a:latin typeface="Expo Book SSi" panose="020B0800000000000000" pitchFamily="34" charset="0"/>
              </a:rPr>
              <a:t>Datasets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F6B8E61-5302-29D9-C912-86421F927E90}"/>
              </a:ext>
            </a:extLst>
          </p:cNvPr>
          <p:cNvSpPr/>
          <p:nvPr/>
        </p:nvSpPr>
        <p:spPr>
          <a:xfrm>
            <a:off x="538814" y="202060"/>
            <a:ext cx="2049640" cy="891027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Crema-D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46A4027-3FFF-885D-6BDB-05363B57EF47}"/>
              </a:ext>
            </a:extLst>
          </p:cNvPr>
          <p:cNvSpPr/>
          <p:nvPr/>
        </p:nvSpPr>
        <p:spPr>
          <a:xfrm>
            <a:off x="9603545" y="202060"/>
            <a:ext cx="2049640" cy="891027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Emo-DB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F83CB49-0706-5D7C-07A3-4D3BB6E3FA93}"/>
              </a:ext>
            </a:extLst>
          </p:cNvPr>
          <p:cNvSpPr/>
          <p:nvPr/>
        </p:nvSpPr>
        <p:spPr>
          <a:xfrm>
            <a:off x="2926080" y="202059"/>
            <a:ext cx="6325995" cy="891027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RAVDESS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A7D49-AFC1-6718-4A64-2D529984C9BA}"/>
              </a:ext>
            </a:extLst>
          </p:cNvPr>
          <p:cNvSpPr txBox="1"/>
          <p:nvPr/>
        </p:nvSpPr>
        <p:spPr>
          <a:xfrm>
            <a:off x="422700" y="752593"/>
            <a:ext cx="5324957" cy="5903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sz="2400" dirty="0">
              <a:latin typeface="Expo Book SSi" panose="020B0800000000000000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400" dirty="0">
                <a:latin typeface="Expo Book SSi" panose="020B0800000000000000" pitchFamily="34" charset="0"/>
              </a:rPr>
              <a:t>The RAVDESS (Ryerson Audio-Visual Database of Emotional Speech and Song) dataset is a validated multimodal database of emotional speech and song recordings by 24 professional actors (12 male, 12 female).</a:t>
            </a:r>
          </a:p>
        </p:txBody>
      </p:sp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B98A0EE4-6398-E135-68F1-2CF711A45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012" b="16118"/>
          <a:stretch>
            <a:fillRect/>
          </a:stretch>
        </p:blipFill>
        <p:spPr>
          <a:xfrm>
            <a:off x="7248887" y="1320753"/>
            <a:ext cx="2003188" cy="553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2719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8F646-3B47-C117-B827-7098AEDCC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68AE5B-0E6B-A458-E394-47EA6DE08B77}"/>
              </a:ext>
            </a:extLst>
          </p:cNvPr>
          <p:cNvSpPr/>
          <p:nvPr/>
        </p:nvSpPr>
        <p:spPr>
          <a:xfrm>
            <a:off x="0" y="-1654628"/>
            <a:ext cx="12192000" cy="1538514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67E0741A-12D7-AE89-D89D-969DCB65D872}"/>
              </a:ext>
            </a:extLst>
          </p:cNvPr>
          <p:cNvSpPr txBox="1">
            <a:spLocks/>
          </p:cNvSpPr>
          <p:nvPr/>
        </p:nvSpPr>
        <p:spPr>
          <a:xfrm>
            <a:off x="-1812388" y="-2848428"/>
            <a:ext cx="1581677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  <a:latin typeface="Expo Book SSi" panose="020B0800000000000000" pitchFamily="34" charset="0"/>
              </a:rPr>
              <a:t>Datasets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C598860-F9BC-EB36-43BC-43A5EAFBB83C}"/>
              </a:ext>
            </a:extLst>
          </p:cNvPr>
          <p:cNvSpPr/>
          <p:nvPr/>
        </p:nvSpPr>
        <p:spPr>
          <a:xfrm>
            <a:off x="538814" y="216579"/>
            <a:ext cx="2049640" cy="891027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Crema-D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42F7627-D609-780D-1368-B9481D06580E}"/>
              </a:ext>
            </a:extLst>
          </p:cNvPr>
          <p:cNvSpPr/>
          <p:nvPr/>
        </p:nvSpPr>
        <p:spPr>
          <a:xfrm>
            <a:off x="5504264" y="216579"/>
            <a:ext cx="6148921" cy="891027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Expo Book SSi" panose="020B0800000000000000" pitchFamily="34" charset="0"/>
              </a:rPr>
              <a:t>Emo-DB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F9D0BAA-A55D-2805-6FD6-EB6950595DE9}"/>
              </a:ext>
            </a:extLst>
          </p:cNvPr>
          <p:cNvSpPr/>
          <p:nvPr/>
        </p:nvSpPr>
        <p:spPr>
          <a:xfrm>
            <a:off x="3021539" y="216578"/>
            <a:ext cx="2049640" cy="891027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RAVDESS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A5EE6F-5749-4254-563E-AABAD46FF81F}"/>
              </a:ext>
            </a:extLst>
          </p:cNvPr>
          <p:cNvSpPr txBox="1"/>
          <p:nvPr/>
        </p:nvSpPr>
        <p:spPr>
          <a:xfrm>
            <a:off x="292072" y="1861205"/>
            <a:ext cx="5528158" cy="442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Expo Book SSi" panose="020B0800000000000000" pitchFamily="34" charset="0"/>
              </a:rPr>
              <a:t>The EMODB (German Emotional Speech Database) is a widely used German-language dataset of acted emotional speech, created by TU Berlin for analyzing how emotions are expressed in voice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6A28F2-E696-A5F9-EBBA-5C0AA71C34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587"/>
          <a:stretch>
            <a:fillRect/>
          </a:stretch>
        </p:blipFill>
        <p:spPr>
          <a:xfrm>
            <a:off x="6838677" y="1418646"/>
            <a:ext cx="2058579" cy="531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09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35C34-B732-B04A-616B-636BC1A2B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19A5F3-3287-4D3C-DDE8-FFAB1BB27023}"/>
              </a:ext>
            </a:extLst>
          </p:cNvPr>
          <p:cNvSpPr/>
          <p:nvPr/>
        </p:nvSpPr>
        <p:spPr>
          <a:xfrm>
            <a:off x="0" y="0"/>
            <a:ext cx="12192000" cy="1538514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5DEFAD-7E8F-4ABA-C3B6-D77B9D9B1E60}"/>
              </a:ext>
            </a:extLst>
          </p:cNvPr>
          <p:cNvSpPr txBox="1">
            <a:spLocks/>
          </p:cNvSpPr>
          <p:nvPr/>
        </p:nvSpPr>
        <p:spPr>
          <a:xfrm>
            <a:off x="1012874" y="-238760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Introduction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71D541C-7851-5C44-E655-E1BE3E1DB055}"/>
              </a:ext>
            </a:extLst>
          </p:cNvPr>
          <p:cNvSpPr txBox="1">
            <a:spLocks/>
          </p:cNvSpPr>
          <p:nvPr/>
        </p:nvSpPr>
        <p:spPr>
          <a:xfrm>
            <a:off x="1012874" y="-238760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Methodology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4E2AD2-2615-7E26-BF31-83DD1E634B5C}"/>
              </a:ext>
            </a:extLst>
          </p:cNvPr>
          <p:cNvSpPr/>
          <p:nvPr/>
        </p:nvSpPr>
        <p:spPr>
          <a:xfrm>
            <a:off x="0" y="1828827"/>
            <a:ext cx="12192000" cy="959758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Resampling: </a:t>
            </a:r>
            <a:r>
              <a:rPr lang="en-US" sz="2800" dirty="0">
                <a:latin typeface="Expo Book SSi" panose="020B0800000000000000" pitchFamily="34" charset="0"/>
              </a:rPr>
              <a:t>Resampled all audio to 16kHz to standardize sample rate across datasets.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15F522C-F54C-B2B4-B5C3-36C69127FF57}"/>
              </a:ext>
            </a:extLst>
          </p:cNvPr>
          <p:cNvSpPr/>
          <p:nvPr/>
        </p:nvSpPr>
        <p:spPr>
          <a:xfrm>
            <a:off x="0" y="2952527"/>
            <a:ext cx="12192000" cy="1012375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Silence Trimming :Removed leading and trailing silence using a decibel threshold of 40 </a:t>
            </a:r>
            <a:r>
              <a:rPr lang="en-US" sz="2800" b="1" dirty="0" err="1">
                <a:latin typeface="Expo Book SSi" panose="020B0800000000000000" pitchFamily="34" charset="0"/>
              </a:rPr>
              <a:t>dB.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E04B1A-A48A-70E8-4371-62640BD3C7AF}"/>
              </a:ext>
            </a:extLst>
          </p:cNvPr>
          <p:cNvSpPr/>
          <p:nvPr/>
        </p:nvSpPr>
        <p:spPr>
          <a:xfrm>
            <a:off x="0" y="4129504"/>
            <a:ext cx="12192000" cy="1012375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Noise Reduction: Applied to reduce background noise while preserving speech clarity.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D67CA55-D6A8-8B77-C818-01465A325717}"/>
              </a:ext>
            </a:extLst>
          </p:cNvPr>
          <p:cNvSpPr/>
          <p:nvPr/>
        </p:nvSpPr>
        <p:spPr>
          <a:xfrm>
            <a:off x="0" y="5306481"/>
            <a:ext cx="12192000" cy="1012375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Audio Segmentation: Split audio into overlapping 3-second windows (50% overlap) to standardize input length and increase sample count.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D2F9301-BC5F-8175-2A89-25C07039974C}"/>
              </a:ext>
            </a:extLst>
          </p:cNvPr>
          <p:cNvSpPr/>
          <p:nvPr/>
        </p:nvSpPr>
        <p:spPr>
          <a:xfrm>
            <a:off x="-8244124" y="1841288"/>
            <a:ext cx="5515429" cy="959758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Deterministic Cleaning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C937132-0093-85C8-B1A4-A13163F3F79E}"/>
              </a:ext>
            </a:extLst>
          </p:cNvPr>
          <p:cNvSpPr/>
          <p:nvPr/>
        </p:nvSpPr>
        <p:spPr>
          <a:xfrm>
            <a:off x="-10455490" y="3175466"/>
            <a:ext cx="9938158" cy="538360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 High-pass filter at 60 Hz to remove low-frequency hum.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32FF8C9-628D-5DC5-653F-D54F3873C645}"/>
              </a:ext>
            </a:extLst>
          </p:cNvPr>
          <p:cNvSpPr/>
          <p:nvPr/>
        </p:nvSpPr>
        <p:spPr>
          <a:xfrm>
            <a:off x="-10455490" y="4042668"/>
            <a:ext cx="9938158" cy="538360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Low-pass filter at 7800 Hz to remove high-frequency noise.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9AA6D04-5306-35F9-520C-63E475403BF2}"/>
              </a:ext>
            </a:extLst>
          </p:cNvPr>
          <p:cNvSpPr/>
          <p:nvPr/>
        </p:nvSpPr>
        <p:spPr>
          <a:xfrm>
            <a:off x="-10455490" y="4909870"/>
            <a:ext cx="9938158" cy="538360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Peak normalization to unify amplitude levels.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8FE0B960-009A-5CBA-2506-0E3746DC23B5}"/>
              </a:ext>
            </a:extLst>
          </p:cNvPr>
          <p:cNvSpPr txBox="1">
            <a:spLocks/>
          </p:cNvSpPr>
          <p:nvPr/>
        </p:nvSpPr>
        <p:spPr>
          <a:xfrm>
            <a:off x="-1812388" y="-1193800"/>
            <a:ext cx="1581677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  <a:latin typeface="Expo Book SSi" panose="020B0800000000000000" pitchFamily="34" charset="0"/>
              </a:rPr>
              <a:t>Data Cleaning</a:t>
            </a:r>
          </a:p>
        </p:txBody>
      </p:sp>
    </p:spTree>
    <p:extLst>
      <p:ext uri="{BB962C8B-B14F-4D97-AF65-F5344CB8AC3E}">
        <p14:creationId xmlns:p14="http://schemas.microsoft.com/office/powerpoint/2010/main" val="40629927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17E9-E1F7-8BEC-76B6-B2DE40831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724D37-A3D6-5E2A-8B0A-EC8853EE97B3}"/>
              </a:ext>
            </a:extLst>
          </p:cNvPr>
          <p:cNvSpPr/>
          <p:nvPr/>
        </p:nvSpPr>
        <p:spPr>
          <a:xfrm>
            <a:off x="0" y="0"/>
            <a:ext cx="12192000" cy="1538514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D532B2B-5311-4E20-E273-6874D7D9C38A}"/>
              </a:ext>
            </a:extLst>
          </p:cNvPr>
          <p:cNvSpPr txBox="1">
            <a:spLocks/>
          </p:cNvSpPr>
          <p:nvPr/>
        </p:nvSpPr>
        <p:spPr>
          <a:xfrm>
            <a:off x="1012874" y="-238760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Introduction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A932845-CD0A-BA45-6535-1ECE56DE48C9}"/>
              </a:ext>
            </a:extLst>
          </p:cNvPr>
          <p:cNvSpPr txBox="1">
            <a:spLocks/>
          </p:cNvSpPr>
          <p:nvPr/>
        </p:nvSpPr>
        <p:spPr>
          <a:xfrm>
            <a:off x="1012874" y="-238760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Methodology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2A8901E-D2EF-849F-C548-280F3CF1E054}"/>
              </a:ext>
            </a:extLst>
          </p:cNvPr>
          <p:cNvSpPr txBox="1">
            <a:spLocks/>
          </p:cNvSpPr>
          <p:nvPr/>
        </p:nvSpPr>
        <p:spPr>
          <a:xfrm>
            <a:off x="-1812388" y="-1193800"/>
            <a:ext cx="1581677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  <a:latin typeface="Expo Book SSi" panose="020B0800000000000000" pitchFamily="34" charset="0"/>
              </a:rPr>
              <a:t>Data Cleaning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350C6A9-632F-31D9-87ED-BB1F12F0C3C8}"/>
              </a:ext>
            </a:extLst>
          </p:cNvPr>
          <p:cNvSpPr/>
          <p:nvPr/>
        </p:nvSpPr>
        <p:spPr>
          <a:xfrm>
            <a:off x="12421772" y="1814759"/>
            <a:ext cx="12192000" cy="959758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Resampling: </a:t>
            </a:r>
            <a:r>
              <a:rPr lang="en-US" sz="2800" dirty="0">
                <a:latin typeface="Expo Book SSi" panose="020B0800000000000000" pitchFamily="34" charset="0"/>
              </a:rPr>
              <a:t>Resampled all audio to 16kHz to standardize sample rate across datasets.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849132-E4D1-D5DC-8D96-E3F6CFE4C584}"/>
              </a:ext>
            </a:extLst>
          </p:cNvPr>
          <p:cNvSpPr/>
          <p:nvPr/>
        </p:nvSpPr>
        <p:spPr>
          <a:xfrm>
            <a:off x="12421772" y="2938459"/>
            <a:ext cx="12192000" cy="1012375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Silence Trimming :Removed leading and trailing silence using a decibel threshold of 40 </a:t>
            </a:r>
            <a:r>
              <a:rPr lang="en-US" sz="2800" b="1" dirty="0" err="1">
                <a:latin typeface="Expo Book SSi" panose="020B0800000000000000" pitchFamily="34" charset="0"/>
              </a:rPr>
              <a:t>dB.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F5B029-8FFA-5F00-73DA-A52B6D60C970}"/>
              </a:ext>
            </a:extLst>
          </p:cNvPr>
          <p:cNvSpPr/>
          <p:nvPr/>
        </p:nvSpPr>
        <p:spPr>
          <a:xfrm>
            <a:off x="12421772" y="4115436"/>
            <a:ext cx="12192000" cy="1012375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Noise Reduction: Applied to reduce background noise while preserving speech clarity.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8B998FA-7ED3-AC23-9D07-F77EC7D1013A}"/>
              </a:ext>
            </a:extLst>
          </p:cNvPr>
          <p:cNvSpPr/>
          <p:nvPr/>
        </p:nvSpPr>
        <p:spPr>
          <a:xfrm>
            <a:off x="12421772" y="5292413"/>
            <a:ext cx="12192000" cy="1012375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Audio Segmentation: Split audio into overlapping 3-second windows (50% overlap) to standardize input length and increase sample count.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32C76B-5456-4413-319F-98AACC3154D2}"/>
              </a:ext>
            </a:extLst>
          </p:cNvPr>
          <p:cNvSpPr/>
          <p:nvPr/>
        </p:nvSpPr>
        <p:spPr>
          <a:xfrm>
            <a:off x="3338285" y="1841288"/>
            <a:ext cx="5515429" cy="959758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Deterministic Cleaning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4A036A-3D8F-12E9-F64F-8DED0252B0D0}"/>
              </a:ext>
            </a:extLst>
          </p:cNvPr>
          <p:cNvSpPr/>
          <p:nvPr/>
        </p:nvSpPr>
        <p:spPr>
          <a:xfrm>
            <a:off x="1126919" y="3175466"/>
            <a:ext cx="9938158" cy="538360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 High-pass filter at 60 Hz to remove low-frequency hum.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0716123-1927-6EF3-EE6B-266EE3371F18}"/>
              </a:ext>
            </a:extLst>
          </p:cNvPr>
          <p:cNvSpPr/>
          <p:nvPr/>
        </p:nvSpPr>
        <p:spPr>
          <a:xfrm>
            <a:off x="1126919" y="4042668"/>
            <a:ext cx="9938158" cy="538360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Low-pass filter at 7800 Hz to remove high-frequency noise.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22980A8-0DA3-1BAC-2565-94EC5C396112}"/>
              </a:ext>
            </a:extLst>
          </p:cNvPr>
          <p:cNvSpPr/>
          <p:nvPr/>
        </p:nvSpPr>
        <p:spPr>
          <a:xfrm>
            <a:off x="1126919" y="4909870"/>
            <a:ext cx="9938158" cy="538360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Peak normalization to unify amplitude levels.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C66195-A284-B720-1109-8FDDAB142DDA}"/>
              </a:ext>
            </a:extLst>
          </p:cNvPr>
          <p:cNvSpPr/>
          <p:nvPr/>
        </p:nvSpPr>
        <p:spPr>
          <a:xfrm>
            <a:off x="-11594522" y="2271746"/>
            <a:ext cx="10571184" cy="776038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Combined RAVDESS, CREMA-D, </a:t>
            </a:r>
            <a:r>
              <a:rPr lang="en-US" sz="2800" b="1" dirty="0" err="1">
                <a:latin typeface="Expo Book SSi" panose="020B0800000000000000" pitchFamily="34" charset="0"/>
              </a:rPr>
              <a:t>EmoDB</a:t>
            </a:r>
            <a:r>
              <a:rPr lang="en-US" sz="2800" b="1" dirty="0">
                <a:latin typeface="Expo Book SSi" panose="020B0800000000000000" pitchFamily="34" charset="0"/>
              </a:rPr>
              <a:t> into unified dataset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3ADC2FB-B6B4-5534-467A-F7689483C7D0}"/>
              </a:ext>
            </a:extLst>
          </p:cNvPr>
          <p:cNvSpPr/>
          <p:nvPr/>
        </p:nvSpPr>
        <p:spPr>
          <a:xfrm>
            <a:off x="-11594522" y="3212387"/>
            <a:ext cx="10571183" cy="748178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Standardized emotion labels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0A759D9-2325-8C5B-8CC2-03D6C9F6C25D}"/>
              </a:ext>
            </a:extLst>
          </p:cNvPr>
          <p:cNvSpPr/>
          <p:nvPr/>
        </p:nvSpPr>
        <p:spPr>
          <a:xfrm>
            <a:off x="-11594522" y="4125169"/>
            <a:ext cx="10571183" cy="748178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Extracted speaker metadata (gender, age, ethnicity)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327479A-5561-A38F-28B0-57B20541EA54}"/>
              </a:ext>
            </a:extLst>
          </p:cNvPr>
          <p:cNvSpPr/>
          <p:nvPr/>
        </p:nvSpPr>
        <p:spPr>
          <a:xfrm>
            <a:off x="-11594524" y="5047164"/>
            <a:ext cx="10571185" cy="1012375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Applied speaker-independent splits → avoid overfitting to identity</a:t>
            </a:r>
            <a:endParaRPr lang="en-US" sz="2800" dirty="0">
              <a:latin typeface="Expo Book SSi" panose="020B08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3189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0E1CA-835D-2788-ECC1-8055DA002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BDA4B6-2B57-F46E-2F8D-A56C4B6C7A10}"/>
              </a:ext>
            </a:extLst>
          </p:cNvPr>
          <p:cNvSpPr/>
          <p:nvPr/>
        </p:nvSpPr>
        <p:spPr>
          <a:xfrm>
            <a:off x="0" y="0"/>
            <a:ext cx="12192000" cy="1538514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40FCF6-B81F-63B9-BAC9-AC52FE81FCA9}"/>
              </a:ext>
            </a:extLst>
          </p:cNvPr>
          <p:cNvSpPr txBox="1">
            <a:spLocks/>
          </p:cNvSpPr>
          <p:nvPr/>
        </p:nvSpPr>
        <p:spPr>
          <a:xfrm>
            <a:off x="-1812388" y="-1193800"/>
            <a:ext cx="1581677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  <a:latin typeface="Expo Book SSi" panose="020B0800000000000000" pitchFamily="34" charset="0"/>
              </a:rPr>
              <a:t>Techniques and Approaches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3954A22-E3BF-8667-CC8A-29B4D696B752}"/>
              </a:ext>
            </a:extLst>
          </p:cNvPr>
          <p:cNvSpPr/>
          <p:nvPr/>
        </p:nvSpPr>
        <p:spPr>
          <a:xfrm>
            <a:off x="188075" y="1637962"/>
            <a:ext cx="2745763" cy="1158655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Feature Extraction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2FFF7B5-20C0-F9F4-EDFD-F3A8E71CF419}"/>
              </a:ext>
            </a:extLst>
          </p:cNvPr>
          <p:cNvSpPr/>
          <p:nvPr/>
        </p:nvSpPr>
        <p:spPr>
          <a:xfrm>
            <a:off x="6096000" y="1772556"/>
            <a:ext cx="2543126" cy="959758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Evaluation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E0E5A53-B6C6-8650-834B-223F5AE20C64}"/>
              </a:ext>
            </a:extLst>
          </p:cNvPr>
          <p:cNvSpPr/>
          <p:nvPr/>
        </p:nvSpPr>
        <p:spPr>
          <a:xfrm>
            <a:off x="9010690" y="1737411"/>
            <a:ext cx="2543126" cy="959758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EDA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7ACEFE3-CAC2-9891-0833-6AE38D167E57}"/>
              </a:ext>
            </a:extLst>
          </p:cNvPr>
          <p:cNvSpPr/>
          <p:nvPr/>
        </p:nvSpPr>
        <p:spPr>
          <a:xfrm>
            <a:off x="3250566" y="1772556"/>
            <a:ext cx="2543126" cy="959758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Modeling Approaches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3FDADE-2942-29FA-604D-4A3A77F83738}"/>
              </a:ext>
            </a:extLst>
          </p:cNvPr>
          <p:cNvSpPr txBox="1"/>
          <p:nvPr/>
        </p:nvSpPr>
        <p:spPr>
          <a:xfrm>
            <a:off x="188075" y="2896065"/>
            <a:ext cx="11844692" cy="3687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Transform audio into numerical features for modeling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MFCCs (Mel-Frequency Cepstral Coefficients): capture speech spectral characteristics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Pitch (intonation): identifies variations in voice tone linked to emotions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Statistical Summaries: mean MFCC vectors for classical models (compact input)</a:t>
            </a:r>
          </a:p>
        </p:txBody>
      </p:sp>
    </p:spTree>
    <p:extLst>
      <p:ext uri="{BB962C8B-B14F-4D97-AF65-F5344CB8AC3E}">
        <p14:creationId xmlns:p14="http://schemas.microsoft.com/office/powerpoint/2010/main" val="18187990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62B5A-0164-CDB3-AC95-64CA76D87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41E6C0-B7F7-0560-DA2B-2D5531350BF1}"/>
              </a:ext>
            </a:extLst>
          </p:cNvPr>
          <p:cNvSpPr/>
          <p:nvPr/>
        </p:nvSpPr>
        <p:spPr>
          <a:xfrm>
            <a:off x="0" y="-1654626"/>
            <a:ext cx="12192000" cy="1538514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50AB99-4EB5-E2D2-89DC-95B7652B6F90}"/>
              </a:ext>
            </a:extLst>
          </p:cNvPr>
          <p:cNvSpPr txBox="1">
            <a:spLocks/>
          </p:cNvSpPr>
          <p:nvPr/>
        </p:nvSpPr>
        <p:spPr>
          <a:xfrm>
            <a:off x="-1812388" y="-2848426"/>
            <a:ext cx="1581677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  <a:latin typeface="Expo Book SSi" panose="020B0800000000000000" pitchFamily="34" charset="0"/>
              </a:rPr>
              <a:t>Techniques and Approaches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02F762D-FE7E-BB26-978D-1CB8B6FCD860}"/>
              </a:ext>
            </a:extLst>
          </p:cNvPr>
          <p:cNvSpPr/>
          <p:nvPr/>
        </p:nvSpPr>
        <p:spPr>
          <a:xfrm>
            <a:off x="188075" y="300497"/>
            <a:ext cx="2604817" cy="994903"/>
          </a:xfrm>
          <a:prstGeom prst="roundRect">
            <a:avLst/>
          </a:prstGeom>
          <a:gradFill flip="none" rotWithShape="1">
            <a:gsLst>
              <a:gs pos="0">
                <a:srgbClr val="FFDBB7"/>
              </a:gs>
              <a:gs pos="100000">
                <a:srgbClr val="F2B4C0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Feature Extraction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EE0F06A-3DF3-ACF6-7684-007D6484805E}"/>
              </a:ext>
            </a:extLst>
          </p:cNvPr>
          <p:cNvSpPr/>
          <p:nvPr/>
        </p:nvSpPr>
        <p:spPr>
          <a:xfrm>
            <a:off x="6096000" y="335642"/>
            <a:ext cx="2543126" cy="959758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Evaluation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6CC2C3C-51D6-E8AC-3431-51FDBAD0893B}"/>
              </a:ext>
            </a:extLst>
          </p:cNvPr>
          <p:cNvSpPr/>
          <p:nvPr/>
        </p:nvSpPr>
        <p:spPr>
          <a:xfrm>
            <a:off x="9010690" y="300497"/>
            <a:ext cx="2543126" cy="959758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EDA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878CA75-C0C6-5DB9-D84D-4C2D614F2B2E}"/>
              </a:ext>
            </a:extLst>
          </p:cNvPr>
          <p:cNvSpPr/>
          <p:nvPr/>
        </p:nvSpPr>
        <p:spPr>
          <a:xfrm>
            <a:off x="3164456" y="201048"/>
            <a:ext cx="2745762" cy="1158655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Modeling Approaches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0483226-B038-F896-FD9C-C128BAA120AF}"/>
              </a:ext>
            </a:extLst>
          </p:cNvPr>
          <p:cNvSpPr/>
          <p:nvPr/>
        </p:nvSpPr>
        <p:spPr>
          <a:xfrm>
            <a:off x="0" y="1899559"/>
            <a:ext cx="12191999" cy="533398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SVM: Worked best overall, good with smaller emotion groups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4D29350-E10A-8E97-71F7-D47DC3AD693A}"/>
              </a:ext>
            </a:extLst>
          </p:cNvPr>
          <p:cNvSpPr/>
          <p:nvPr/>
        </p:nvSpPr>
        <p:spPr>
          <a:xfrm>
            <a:off x="-3" y="2894169"/>
            <a:ext cx="12191999" cy="533398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Random Forest: Simple and solid, but less reliable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9034E0-96F6-9844-CC1A-EF7D90E3158A}"/>
              </a:ext>
            </a:extLst>
          </p:cNvPr>
          <p:cNvSpPr/>
          <p:nvPr/>
        </p:nvSpPr>
        <p:spPr>
          <a:xfrm>
            <a:off x="-4" y="3888779"/>
            <a:ext cx="12191999" cy="533398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CNN: Finds patterns in sound maps, misses time changes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54A59A-0F82-4C94-529D-03BE7B7D65DB}"/>
              </a:ext>
            </a:extLst>
          </p:cNvPr>
          <p:cNvSpPr/>
          <p:nvPr/>
        </p:nvSpPr>
        <p:spPr>
          <a:xfrm>
            <a:off x="1" y="4916673"/>
            <a:ext cx="12191999" cy="533398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LSTM: Follows sound over time, but needs more data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BCE267-17F0-D744-8848-7925C09714E8}"/>
              </a:ext>
            </a:extLst>
          </p:cNvPr>
          <p:cNvSpPr/>
          <p:nvPr/>
        </p:nvSpPr>
        <p:spPr>
          <a:xfrm>
            <a:off x="-2" y="5816179"/>
            <a:ext cx="12191999" cy="533398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LSTM + CNN: Mix of both, too complex for our dataset</a:t>
            </a:r>
            <a:endParaRPr lang="en-US" sz="2800" dirty="0">
              <a:latin typeface="Expo Book SSi" panose="020B08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9564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6A8E0-0D54-AD12-514B-54E51ACF3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A58789-61D6-0C53-451D-78C6795144EE}"/>
              </a:ext>
            </a:extLst>
          </p:cNvPr>
          <p:cNvSpPr/>
          <p:nvPr/>
        </p:nvSpPr>
        <p:spPr>
          <a:xfrm>
            <a:off x="0" y="-1603716"/>
            <a:ext cx="12192000" cy="1538514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0C607EA-7D79-8F44-A329-CD37ADFD3FA1}"/>
              </a:ext>
            </a:extLst>
          </p:cNvPr>
          <p:cNvSpPr txBox="1">
            <a:spLocks/>
          </p:cNvSpPr>
          <p:nvPr/>
        </p:nvSpPr>
        <p:spPr>
          <a:xfrm>
            <a:off x="-1812388" y="-2601683"/>
            <a:ext cx="1581677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  <a:latin typeface="Expo Book SSi" panose="020B0800000000000000" pitchFamily="34" charset="0"/>
              </a:rPr>
              <a:t>Techniques and Approaches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FF0540-5848-AF43-6FB4-A6A11488213E}"/>
              </a:ext>
            </a:extLst>
          </p:cNvPr>
          <p:cNvSpPr/>
          <p:nvPr/>
        </p:nvSpPr>
        <p:spPr>
          <a:xfrm>
            <a:off x="289653" y="292099"/>
            <a:ext cx="2543126" cy="959759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Feature Extraction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279E11B-F66D-FCF8-2663-B79D3B065F5C}"/>
              </a:ext>
            </a:extLst>
          </p:cNvPr>
          <p:cNvSpPr/>
          <p:nvPr/>
        </p:nvSpPr>
        <p:spPr>
          <a:xfrm>
            <a:off x="6096000" y="157506"/>
            <a:ext cx="2745763" cy="1158655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Evaluation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E4AACD9-2161-4320-51F0-B62D8F8F4FD8}"/>
              </a:ext>
            </a:extLst>
          </p:cNvPr>
          <p:cNvSpPr/>
          <p:nvPr/>
        </p:nvSpPr>
        <p:spPr>
          <a:xfrm>
            <a:off x="9010690" y="256955"/>
            <a:ext cx="2543126" cy="959758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EDA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A63754B-85E3-B352-0B50-8F6E46830441}"/>
              </a:ext>
            </a:extLst>
          </p:cNvPr>
          <p:cNvSpPr/>
          <p:nvPr/>
        </p:nvSpPr>
        <p:spPr>
          <a:xfrm>
            <a:off x="3250566" y="292100"/>
            <a:ext cx="2543126" cy="959758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Modeling Approaches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2888E1-DB30-735A-0117-8FD26270E4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9758" y="1992507"/>
            <a:ext cx="5381616" cy="4742121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Training</a:t>
            </a:r>
          </a:p>
          <a:p>
            <a:r>
              <a:rPr lang="en-US" dirty="0"/>
              <a:t>Input: Audio → Preprocessing (noise removal, normalization)</a:t>
            </a:r>
          </a:p>
          <a:p>
            <a:r>
              <a:rPr lang="en-US" dirty="0"/>
              <a:t>Feature extraction: MFCCs, Spectrograms</a:t>
            </a:r>
          </a:p>
          <a:p>
            <a:r>
              <a:rPr lang="en-US" dirty="0"/>
              <a:t>Models trained: </a:t>
            </a:r>
            <a:r>
              <a:rPr lang="en-US" b="1" dirty="0"/>
              <a:t>SVM, CNN, LSTM</a:t>
            </a:r>
          </a:p>
          <a:p>
            <a:r>
              <a:rPr lang="en-US" dirty="0"/>
              <a:t>Data split: </a:t>
            </a:r>
            <a:r>
              <a:rPr lang="en-US" b="1" dirty="0"/>
              <a:t>80% training / 20% testing</a:t>
            </a:r>
            <a:endParaRPr lang="en-US" dirty="0"/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97FA01-A065-7DEF-9AB9-64DF5949D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992507"/>
            <a:ext cx="5381616" cy="3871263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Evaluation</a:t>
            </a:r>
          </a:p>
          <a:p>
            <a:r>
              <a:rPr lang="en-US" dirty="0"/>
              <a:t>Metrics: Accuracy, Precision, Recall, Confusion Matrix</a:t>
            </a:r>
          </a:p>
          <a:p>
            <a:r>
              <a:rPr lang="en-US" dirty="0"/>
              <a:t>Compared model performances</a:t>
            </a:r>
          </a:p>
          <a:p>
            <a:r>
              <a:rPr lang="en-US" b="1" dirty="0"/>
              <a:t>Best performer:</a:t>
            </a:r>
            <a:r>
              <a:rPr lang="en-US" dirty="0"/>
              <a:t> </a:t>
            </a:r>
            <a:r>
              <a:rPr lang="en-US" b="1" dirty="0"/>
              <a:t>SVM</a:t>
            </a:r>
            <a:r>
              <a:rPr lang="en-US" dirty="0"/>
              <a:t> (most consistent accuracy with our dataset size)</a:t>
            </a:r>
          </a:p>
        </p:txBody>
      </p:sp>
    </p:spTree>
    <p:extLst>
      <p:ext uri="{BB962C8B-B14F-4D97-AF65-F5344CB8AC3E}">
        <p14:creationId xmlns:p14="http://schemas.microsoft.com/office/powerpoint/2010/main" val="19959305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CA245-1D01-EE4E-2296-462FB180B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216806-8C71-5E24-D561-766B1B8E6CAA}"/>
              </a:ext>
            </a:extLst>
          </p:cNvPr>
          <p:cNvSpPr/>
          <p:nvPr/>
        </p:nvSpPr>
        <p:spPr>
          <a:xfrm>
            <a:off x="0" y="-1603716"/>
            <a:ext cx="12192000" cy="1538514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5BF7F5E-71A5-43C0-673B-0D25527D026C}"/>
              </a:ext>
            </a:extLst>
          </p:cNvPr>
          <p:cNvSpPr txBox="1">
            <a:spLocks/>
          </p:cNvSpPr>
          <p:nvPr/>
        </p:nvSpPr>
        <p:spPr>
          <a:xfrm>
            <a:off x="-1812388" y="-2601683"/>
            <a:ext cx="1581677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  <a:latin typeface="Expo Book SSi" panose="020B0800000000000000" pitchFamily="34" charset="0"/>
              </a:rPr>
              <a:t>Techniques and Approaches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BBCEA5-789B-7E5F-6E8D-B264592F4223}"/>
              </a:ext>
            </a:extLst>
          </p:cNvPr>
          <p:cNvSpPr/>
          <p:nvPr/>
        </p:nvSpPr>
        <p:spPr>
          <a:xfrm>
            <a:off x="289653" y="292099"/>
            <a:ext cx="2543126" cy="959759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Feature Extraction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A9E57D8-A4F3-56F6-9B81-5C6A90C73DBD}"/>
              </a:ext>
            </a:extLst>
          </p:cNvPr>
          <p:cNvSpPr/>
          <p:nvPr/>
        </p:nvSpPr>
        <p:spPr>
          <a:xfrm>
            <a:off x="6211479" y="292099"/>
            <a:ext cx="2543126" cy="959759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Evaluation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51C99DC-CCF6-4E8A-B2D8-FED32558BDC6}"/>
              </a:ext>
            </a:extLst>
          </p:cNvPr>
          <p:cNvSpPr/>
          <p:nvPr/>
        </p:nvSpPr>
        <p:spPr>
          <a:xfrm>
            <a:off x="9010690" y="193904"/>
            <a:ext cx="2799211" cy="1179959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EDA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CB66DC5-1690-A9C1-2455-1B6151AC333D}"/>
              </a:ext>
            </a:extLst>
          </p:cNvPr>
          <p:cNvSpPr/>
          <p:nvPr/>
        </p:nvSpPr>
        <p:spPr>
          <a:xfrm>
            <a:off x="3250566" y="292100"/>
            <a:ext cx="2543126" cy="959758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Modeling Approaches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401AE5-1EC7-348A-CA35-534AF2B91E69}"/>
              </a:ext>
            </a:extLst>
          </p:cNvPr>
          <p:cNvSpPr txBox="1"/>
          <p:nvPr/>
        </p:nvSpPr>
        <p:spPr>
          <a:xfrm>
            <a:off x="134203" y="1373863"/>
            <a:ext cx="5397152" cy="732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Imbalanced Emotion Distribution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17CFDE-EECE-20F0-1BE8-313B84FA0A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688" y="2063481"/>
            <a:ext cx="8122007" cy="47945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95437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ABC66-82B8-D38B-32FE-115239CD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0E206D-7960-D017-79E1-AD900B756AA0}"/>
              </a:ext>
            </a:extLst>
          </p:cNvPr>
          <p:cNvSpPr/>
          <p:nvPr/>
        </p:nvSpPr>
        <p:spPr>
          <a:xfrm>
            <a:off x="0" y="-1603716"/>
            <a:ext cx="12192000" cy="1538514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E5F759A-C70A-70FA-52EC-617C3982E7D7}"/>
              </a:ext>
            </a:extLst>
          </p:cNvPr>
          <p:cNvSpPr txBox="1">
            <a:spLocks/>
          </p:cNvSpPr>
          <p:nvPr/>
        </p:nvSpPr>
        <p:spPr>
          <a:xfrm>
            <a:off x="-1812388" y="-2601683"/>
            <a:ext cx="1581677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  <a:latin typeface="Expo Book SSi" panose="020B0800000000000000" pitchFamily="34" charset="0"/>
              </a:rPr>
              <a:t>Techniques and Approaches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D1A1608-6919-12ED-8D81-08B98012886A}"/>
              </a:ext>
            </a:extLst>
          </p:cNvPr>
          <p:cNvSpPr/>
          <p:nvPr/>
        </p:nvSpPr>
        <p:spPr>
          <a:xfrm>
            <a:off x="289653" y="292099"/>
            <a:ext cx="2543126" cy="959759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Feature Extraction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6635030-2F5A-D01F-9D0C-BCEA3588980C}"/>
              </a:ext>
            </a:extLst>
          </p:cNvPr>
          <p:cNvSpPr/>
          <p:nvPr/>
        </p:nvSpPr>
        <p:spPr>
          <a:xfrm>
            <a:off x="6211479" y="292099"/>
            <a:ext cx="2543126" cy="959759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Evaluation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BFC8D30-130F-28C2-4724-290C2694CE5D}"/>
              </a:ext>
            </a:extLst>
          </p:cNvPr>
          <p:cNvSpPr/>
          <p:nvPr/>
        </p:nvSpPr>
        <p:spPr>
          <a:xfrm>
            <a:off x="9010690" y="193904"/>
            <a:ext cx="2799211" cy="1179959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EDA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67C33E0-AA66-2E14-1121-7907F0E5D0E3}"/>
              </a:ext>
            </a:extLst>
          </p:cNvPr>
          <p:cNvSpPr/>
          <p:nvPr/>
        </p:nvSpPr>
        <p:spPr>
          <a:xfrm>
            <a:off x="3250566" y="292100"/>
            <a:ext cx="2543126" cy="959758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Modeling Approaches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894287-05BF-6E6A-8F33-526561F1A170}"/>
              </a:ext>
            </a:extLst>
          </p:cNvPr>
          <p:cNvSpPr txBox="1"/>
          <p:nvPr/>
        </p:nvSpPr>
        <p:spPr>
          <a:xfrm>
            <a:off x="134203" y="1373863"/>
            <a:ext cx="6773034" cy="732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Gender 55% male, 45% female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2FBDA7-FAFB-D4F3-F2B1-7407F3FC5D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618" y="2110764"/>
            <a:ext cx="9448147" cy="44551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97670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EBF1F-B8D0-C4E0-D4C7-ECB1C5F95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866189-69D0-43F3-C739-ED58E7042D81}"/>
              </a:ext>
            </a:extLst>
          </p:cNvPr>
          <p:cNvSpPr/>
          <p:nvPr/>
        </p:nvSpPr>
        <p:spPr>
          <a:xfrm>
            <a:off x="0" y="-1603716"/>
            <a:ext cx="12192000" cy="1538514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B54D96D-3F11-7EA1-BF3F-B505FE5414BB}"/>
              </a:ext>
            </a:extLst>
          </p:cNvPr>
          <p:cNvSpPr txBox="1">
            <a:spLocks/>
          </p:cNvSpPr>
          <p:nvPr/>
        </p:nvSpPr>
        <p:spPr>
          <a:xfrm>
            <a:off x="-1812388" y="-2601683"/>
            <a:ext cx="1581677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  <a:latin typeface="Expo Book SSi" panose="020B0800000000000000" pitchFamily="34" charset="0"/>
              </a:rPr>
              <a:t>Techniques and Approaches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7BE0865-7E7D-B2BC-436A-001B4F94435C}"/>
              </a:ext>
            </a:extLst>
          </p:cNvPr>
          <p:cNvSpPr/>
          <p:nvPr/>
        </p:nvSpPr>
        <p:spPr>
          <a:xfrm>
            <a:off x="289653" y="292099"/>
            <a:ext cx="2543126" cy="959759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Feature Extraction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4321B64-4F4C-3414-4473-76335DD399C1}"/>
              </a:ext>
            </a:extLst>
          </p:cNvPr>
          <p:cNvSpPr/>
          <p:nvPr/>
        </p:nvSpPr>
        <p:spPr>
          <a:xfrm>
            <a:off x="6211479" y="292099"/>
            <a:ext cx="2543126" cy="959759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Evaluation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C4B6A59-DDE4-1860-31EA-CEAA194DE78E}"/>
              </a:ext>
            </a:extLst>
          </p:cNvPr>
          <p:cNvSpPr/>
          <p:nvPr/>
        </p:nvSpPr>
        <p:spPr>
          <a:xfrm>
            <a:off x="9010690" y="193904"/>
            <a:ext cx="2799211" cy="1179959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EDA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4F45225-E39D-223E-1D78-4BB9DEFC7AB4}"/>
              </a:ext>
            </a:extLst>
          </p:cNvPr>
          <p:cNvSpPr/>
          <p:nvPr/>
        </p:nvSpPr>
        <p:spPr>
          <a:xfrm>
            <a:off x="3250566" y="292100"/>
            <a:ext cx="2543126" cy="959758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Modeling Approaches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49ACF7-F798-AC4D-864D-72C374C0927B}"/>
              </a:ext>
            </a:extLst>
          </p:cNvPr>
          <p:cNvSpPr txBox="1"/>
          <p:nvPr/>
        </p:nvSpPr>
        <p:spPr>
          <a:xfrm>
            <a:off x="134203" y="1373863"/>
            <a:ext cx="8620402" cy="732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Pitch: higher in happy/surprise, lower in sad/neutral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C596E8-45B1-E6CA-E8F1-AE38C03A33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993" y="2228569"/>
            <a:ext cx="8387397" cy="46010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13039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11208-2F3E-15FB-004D-9FE3F811F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0499C9-F1D1-0490-CC8C-143DD4B00C8F}"/>
              </a:ext>
            </a:extLst>
          </p:cNvPr>
          <p:cNvSpPr/>
          <p:nvPr/>
        </p:nvSpPr>
        <p:spPr>
          <a:xfrm>
            <a:off x="0" y="-1603716"/>
            <a:ext cx="12192000" cy="1538514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39C6D42-7CCF-2CD4-F142-F476103CB492}"/>
              </a:ext>
            </a:extLst>
          </p:cNvPr>
          <p:cNvSpPr txBox="1">
            <a:spLocks/>
          </p:cNvSpPr>
          <p:nvPr/>
        </p:nvSpPr>
        <p:spPr>
          <a:xfrm>
            <a:off x="-1812388" y="-2601683"/>
            <a:ext cx="1581677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  <a:latin typeface="Expo Book SSi" panose="020B0800000000000000" pitchFamily="34" charset="0"/>
              </a:rPr>
              <a:t>Techniques and Approaches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9529D12-69EE-E514-3E55-1F212C8D6089}"/>
              </a:ext>
            </a:extLst>
          </p:cNvPr>
          <p:cNvSpPr/>
          <p:nvPr/>
        </p:nvSpPr>
        <p:spPr>
          <a:xfrm>
            <a:off x="289653" y="292099"/>
            <a:ext cx="2543126" cy="959759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Feature Extraction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FC7BDBB-9B52-9012-E891-CE379D423DA0}"/>
              </a:ext>
            </a:extLst>
          </p:cNvPr>
          <p:cNvSpPr/>
          <p:nvPr/>
        </p:nvSpPr>
        <p:spPr>
          <a:xfrm>
            <a:off x="6211479" y="292099"/>
            <a:ext cx="2543126" cy="959759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Evaluation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FAAED78-F303-2778-BEE1-73A059101334}"/>
              </a:ext>
            </a:extLst>
          </p:cNvPr>
          <p:cNvSpPr/>
          <p:nvPr/>
        </p:nvSpPr>
        <p:spPr>
          <a:xfrm>
            <a:off x="9010690" y="193904"/>
            <a:ext cx="2799211" cy="1179959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EDA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5532FB0-8532-6CE2-07E6-479952B42784}"/>
              </a:ext>
            </a:extLst>
          </p:cNvPr>
          <p:cNvSpPr/>
          <p:nvPr/>
        </p:nvSpPr>
        <p:spPr>
          <a:xfrm>
            <a:off x="3250566" y="292100"/>
            <a:ext cx="2543126" cy="959758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Modeling Approaches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87A658-306D-BD2C-D00E-4CCADD5D3703}"/>
              </a:ext>
            </a:extLst>
          </p:cNvPr>
          <p:cNvSpPr txBox="1"/>
          <p:nvPr/>
        </p:nvSpPr>
        <p:spPr>
          <a:xfrm>
            <a:off x="134203" y="1373863"/>
            <a:ext cx="8620402" cy="732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Energy: higher in angry/happy, lower in sad/calm</a:t>
            </a:r>
          </a:p>
        </p:txBody>
      </p:sp>
      <p:pic>
        <p:nvPicPr>
          <p:cNvPr id="7" name="Picture 6" descr="A graph of different sizes and colors&#10;&#10;Description automatically generated with medium confidence">
            <a:extLst>
              <a:ext uri="{FF2B5EF4-FFF2-40B4-BE49-F238E27FC236}">
                <a16:creationId xmlns:a16="http://schemas.microsoft.com/office/drawing/2014/main" id="{569CD235-2E70-E88B-399B-80E5F62ACA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581" y="2171706"/>
            <a:ext cx="8498832" cy="46570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9076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7C892-11E6-8D7A-F6E7-4D998118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4EC89D-67C9-E07A-8BFC-AB1C5DAD21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BE6FFB-D9A6-8E10-402A-C5D9C9289239}"/>
              </a:ext>
            </a:extLst>
          </p:cNvPr>
          <p:cNvSpPr txBox="1">
            <a:spLocks/>
          </p:cNvSpPr>
          <p:nvPr/>
        </p:nvSpPr>
        <p:spPr>
          <a:xfrm>
            <a:off x="1012874" y="-238760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Introduction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1BDABA5-56E5-8ED8-3D38-DA4804D2684C}"/>
              </a:ext>
            </a:extLst>
          </p:cNvPr>
          <p:cNvSpPr txBox="1">
            <a:spLocks/>
          </p:cNvSpPr>
          <p:nvPr/>
        </p:nvSpPr>
        <p:spPr>
          <a:xfrm>
            <a:off x="1012874" y="1527227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Implementation and Results</a:t>
            </a:r>
          </a:p>
        </p:txBody>
      </p:sp>
    </p:spTree>
    <p:extLst>
      <p:ext uri="{BB962C8B-B14F-4D97-AF65-F5344CB8AC3E}">
        <p14:creationId xmlns:p14="http://schemas.microsoft.com/office/powerpoint/2010/main" val="41438099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0830E-035C-801A-FBB2-59A04DE77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5E62E4-E946-E5A5-C35D-2DEA4039A193}"/>
              </a:ext>
            </a:extLst>
          </p:cNvPr>
          <p:cNvSpPr/>
          <p:nvPr/>
        </p:nvSpPr>
        <p:spPr>
          <a:xfrm>
            <a:off x="0" y="-1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E91A1F4-6D6D-06A1-EF81-12C7D2252C56}"/>
              </a:ext>
            </a:extLst>
          </p:cNvPr>
          <p:cNvSpPr txBox="1">
            <a:spLocks/>
          </p:cNvSpPr>
          <p:nvPr/>
        </p:nvSpPr>
        <p:spPr>
          <a:xfrm>
            <a:off x="1012874" y="-238760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Introduction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0874BBC-6B63-C3AE-3144-6DA403EA4DFF}"/>
              </a:ext>
            </a:extLst>
          </p:cNvPr>
          <p:cNvSpPr txBox="1">
            <a:spLocks/>
          </p:cNvSpPr>
          <p:nvPr/>
        </p:nvSpPr>
        <p:spPr>
          <a:xfrm>
            <a:off x="1012874" y="-119380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Implementation and Results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00C0D1-00C2-E5D3-A8EC-AB0F04E5A9D4}"/>
              </a:ext>
            </a:extLst>
          </p:cNvPr>
          <p:cNvSpPr/>
          <p:nvPr/>
        </p:nvSpPr>
        <p:spPr>
          <a:xfrm>
            <a:off x="150051" y="4645653"/>
            <a:ext cx="11863758" cy="803811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Random Forest Classifier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FB8DB70-8F8A-B4E7-F54F-7544C2DCA8D1}"/>
              </a:ext>
            </a:extLst>
          </p:cNvPr>
          <p:cNvSpPr/>
          <p:nvPr/>
        </p:nvSpPr>
        <p:spPr>
          <a:xfrm>
            <a:off x="150051" y="1770578"/>
            <a:ext cx="11863758" cy="803811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CNN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460368-ABDD-2619-3A81-B1D5E7CC16BD}"/>
              </a:ext>
            </a:extLst>
          </p:cNvPr>
          <p:cNvSpPr/>
          <p:nvPr/>
        </p:nvSpPr>
        <p:spPr>
          <a:xfrm>
            <a:off x="150051" y="2746925"/>
            <a:ext cx="11863758" cy="803811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LSTM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3A50E5-9BDA-CE45-42B3-FEAA3E99C95C}"/>
              </a:ext>
            </a:extLst>
          </p:cNvPr>
          <p:cNvSpPr/>
          <p:nvPr/>
        </p:nvSpPr>
        <p:spPr>
          <a:xfrm>
            <a:off x="150051" y="3696289"/>
            <a:ext cx="11863758" cy="803811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CNN + LSTM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8B38701-15BC-6CA6-271F-6FD83D93C9BA}"/>
              </a:ext>
            </a:extLst>
          </p:cNvPr>
          <p:cNvSpPr/>
          <p:nvPr/>
        </p:nvSpPr>
        <p:spPr>
          <a:xfrm>
            <a:off x="150051" y="5622000"/>
            <a:ext cx="11863758" cy="803811"/>
          </a:xfrm>
          <a:prstGeom prst="round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SVM</a:t>
            </a:r>
          </a:p>
        </p:txBody>
      </p:sp>
    </p:spTree>
    <p:extLst>
      <p:ext uri="{BB962C8B-B14F-4D97-AF65-F5344CB8AC3E}">
        <p14:creationId xmlns:p14="http://schemas.microsoft.com/office/powerpoint/2010/main" val="12063492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4E55A-34A7-BBAA-918E-3F3589891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08D613-2EF7-3FDF-0E9E-233E4A61F6B6}"/>
              </a:ext>
            </a:extLst>
          </p:cNvPr>
          <p:cNvSpPr/>
          <p:nvPr/>
        </p:nvSpPr>
        <p:spPr>
          <a:xfrm>
            <a:off x="0" y="-1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DA99D23-FD81-6364-82D6-A0F3D3A11008}"/>
              </a:ext>
            </a:extLst>
          </p:cNvPr>
          <p:cNvSpPr txBox="1">
            <a:spLocks/>
          </p:cNvSpPr>
          <p:nvPr/>
        </p:nvSpPr>
        <p:spPr>
          <a:xfrm>
            <a:off x="-499403" y="-1266577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Convolutional Neural Network (CNN)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AAD39C6-D10E-07B1-D541-CBB798CAE315}"/>
              </a:ext>
            </a:extLst>
          </p:cNvPr>
          <p:cNvSpPr txBox="1">
            <a:spLocks/>
          </p:cNvSpPr>
          <p:nvPr/>
        </p:nvSpPr>
        <p:spPr>
          <a:xfrm>
            <a:off x="2051422" y="2153309"/>
            <a:ext cx="8542039" cy="3382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Captures Spatial Patterns in features.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Performed well on angry, sad.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Weak on subtle classes: Fear, Surprise, Disgust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1A83476-77B0-9B5E-33EE-721522546330}"/>
              </a:ext>
            </a:extLst>
          </p:cNvPr>
          <p:cNvSpPr/>
          <p:nvPr/>
        </p:nvSpPr>
        <p:spPr>
          <a:xfrm>
            <a:off x="1824980" y="2382806"/>
            <a:ext cx="8542039" cy="3152831"/>
          </a:xfrm>
          <a:prstGeom prst="roundRect">
            <a:avLst/>
          </a:prstGeom>
          <a:gradFill>
            <a:gsLst>
              <a:gs pos="0">
                <a:srgbClr val="B71F3C">
                  <a:alpha val="12000"/>
                </a:srgbClr>
              </a:gs>
              <a:gs pos="100000">
                <a:srgbClr val="FF8C1A">
                  <a:alpha val="13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0641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2EC01-D8AA-6844-2D38-3638013CD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C0D3AD-6B61-82A8-F0D4-FBB747D38C7F}"/>
              </a:ext>
            </a:extLst>
          </p:cNvPr>
          <p:cNvSpPr/>
          <p:nvPr/>
        </p:nvSpPr>
        <p:spPr>
          <a:xfrm>
            <a:off x="0" y="-1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076DFC6-BCE7-C31B-A51E-C867073BBAC9}"/>
              </a:ext>
            </a:extLst>
          </p:cNvPr>
          <p:cNvSpPr txBox="1">
            <a:spLocks/>
          </p:cNvSpPr>
          <p:nvPr/>
        </p:nvSpPr>
        <p:spPr>
          <a:xfrm>
            <a:off x="-499403" y="-1266577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Convolutional Neural Network (CNN)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B41034-5774-0D0A-9FD1-400E48D015F2}"/>
              </a:ext>
            </a:extLst>
          </p:cNvPr>
          <p:cNvSpPr/>
          <p:nvPr/>
        </p:nvSpPr>
        <p:spPr>
          <a:xfrm>
            <a:off x="77481" y="2583468"/>
            <a:ext cx="3959946" cy="2990016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BB09DA-C7BF-4524-C923-8B0D19391235}"/>
              </a:ext>
            </a:extLst>
          </p:cNvPr>
          <p:cNvSpPr/>
          <p:nvPr/>
        </p:nvSpPr>
        <p:spPr>
          <a:xfrm>
            <a:off x="4106422" y="2583467"/>
            <a:ext cx="3972006" cy="2990016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1E8168-4B88-50CA-F3F2-5251177AA195}"/>
              </a:ext>
            </a:extLst>
          </p:cNvPr>
          <p:cNvSpPr/>
          <p:nvPr/>
        </p:nvSpPr>
        <p:spPr>
          <a:xfrm>
            <a:off x="8147424" y="2583467"/>
            <a:ext cx="3972006" cy="2990016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</a:t>
            </a:r>
            <a:endParaRPr lang="en-US" sz="2800" dirty="0">
              <a:latin typeface="Expo Book SSi" panose="020B08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5403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AB47C-03EA-E05F-EAB4-D0AB72621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5FAD78-19FA-8C9D-99C2-3279AA4D3D6E}"/>
              </a:ext>
            </a:extLst>
          </p:cNvPr>
          <p:cNvSpPr/>
          <p:nvPr/>
        </p:nvSpPr>
        <p:spPr>
          <a:xfrm>
            <a:off x="0" y="-1712686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31EE7BD-2914-B61B-B914-E3B6B380BC33}"/>
              </a:ext>
            </a:extLst>
          </p:cNvPr>
          <p:cNvSpPr txBox="1">
            <a:spLocks/>
          </p:cNvSpPr>
          <p:nvPr/>
        </p:nvSpPr>
        <p:spPr>
          <a:xfrm>
            <a:off x="-499403" y="-2979262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Convolutional Neural Network (CNN)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F6F1B12-AEA9-9E24-4309-1A7408CEDCAF}"/>
              </a:ext>
            </a:extLst>
          </p:cNvPr>
          <p:cNvSpPr/>
          <p:nvPr/>
        </p:nvSpPr>
        <p:spPr>
          <a:xfrm>
            <a:off x="77480" y="183181"/>
            <a:ext cx="3959946" cy="1204759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A4F1D3-E5B3-765B-4F8D-6CEE3742AE67}"/>
              </a:ext>
            </a:extLst>
          </p:cNvPr>
          <p:cNvSpPr/>
          <p:nvPr/>
        </p:nvSpPr>
        <p:spPr>
          <a:xfrm>
            <a:off x="4106422" y="304729"/>
            <a:ext cx="3972006" cy="961665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4333F3-5959-FA04-4329-EE7A9883691D}"/>
              </a:ext>
            </a:extLst>
          </p:cNvPr>
          <p:cNvSpPr/>
          <p:nvPr/>
        </p:nvSpPr>
        <p:spPr>
          <a:xfrm>
            <a:off x="8147424" y="304729"/>
            <a:ext cx="3972006" cy="961665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13E81D-E699-BCD2-3C23-A47E623CCE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39" y="1712309"/>
            <a:ext cx="11730122" cy="4717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92567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05DAE-17C1-E199-4CD9-5E1D890ED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16B3BB-988F-606F-0B8C-5F775100BA18}"/>
              </a:ext>
            </a:extLst>
          </p:cNvPr>
          <p:cNvSpPr/>
          <p:nvPr/>
        </p:nvSpPr>
        <p:spPr>
          <a:xfrm>
            <a:off x="0" y="-1712686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3CC62A6-18E2-373C-3263-895AC4B45E23}"/>
              </a:ext>
            </a:extLst>
          </p:cNvPr>
          <p:cNvSpPr txBox="1">
            <a:spLocks/>
          </p:cNvSpPr>
          <p:nvPr/>
        </p:nvSpPr>
        <p:spPr>
          <a:xfrm>
            <a:off x="-499403" y="-2979262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Convolutional Neural Network (CNN)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9331321-29B1-1480-7248-9E67CDC5F6EC}"/>
              </a:ext>
            </a:extLst>
          </p:cNvPr>
          <p:cNvSpPr/>
          <p:nvPr/>
        </p:nvSpPr>
        <p:spPr>
          <a:xfrm>
            <a:off x="72570" y="234205"/>
            <a:ext cx="3959946" cy="961666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0CA3FC-18B1-133C-A167-3B64F3CC758C}"/>
              </a:ext>
            </a:extLst>
          </p:cNvPr>
          <p:cNvSpPr/>
          <p:nvPr/>
        </p:nvSpPr>
        <p:spPr>
          <a:xfrm>
            <a:off x="4109997" y="174919"/>
            <a:ext cx="3972006" cy="1134200"/>
          </a:xfrm>
          <a:prstGeom prst="roundRect">
            <a:avLst/>
          </a:prstGeom>
          <a:gradFill flip="none" rotWithShape="1">
            <a:gsLst>
              <a:gs pos="0">
                <a:srgbClr val="FF8B1E"/>
              </a:gs>
              <a:gs pos="100000">
                <a:srgbClr val="C22F3C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0D7F3F-44ED-1AB0-14BF-9110AB40E5D8}"/>
              </a:ext>
            </a:extLst>
          </p:cNvPr>
          <p:cNvSpPr/>
          <p:nvPr/>
        </p:nvSpPr>
        <p:spPr>
          <a:xfrm>
            <a:off x="8147424" y="261187"/>
            <a:ext cx="3972006" cy="961665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D0915CF5-1B30-6E46-8B94-0ACBFF7DEE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017" y="1368405"/>
            <a:ext cx="7095037" cy="54895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39784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30FFC-46AF-5743-21CB-966BFDB0C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11B2A0-6850-F06E-1A8C-65095624D710}"/>
              </a:ext>
            </a:extLst>
          </p:cNvPr>
          <p:cNvSpPr/>
          <p:nvPr/>
        </p:nvSpPr>
        <p:spPr>
          <a:xfrm>
            <a:off x="0" y="-1712686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69072EEA-C8AC-9A5D-EBC4-E608F92573DB}"/>
              </a:ext>
            </a:extLst>
          </p:cNvPr>
          <p:cNvSpPr txBox="1">
            <a:spLocks/>
          </p:cNvSpPr>
          <p:nvPr/>
        </p:nvSpPr>
        <p:spPr>
          <a:xfrm>
            <a:off x="-499403" y="-2979262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Convolutional Neural Network (CNN)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B2BA80-877C-7C18-09EF-0CD7BA9E0862}"/>
              </a:ext>
            </a:extLst>
          </p:cNvPr>
          <p:cNvSpPr/>
          <p:nvPr/>
        </p:nvSpPr>
        <p:spPr>
          <a:xfrm>
            <a:off x="72570" y="234205"/>
            <a:ext cx="3959946" cy="961666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9D421A-5323-93F5-C84D-225CA6E595EE}"/>
              </a:ext>
            </a:extLst>
          </p:cNvPr>
          <p:cNvSpPr/>
          <p:nvPr/>
        </p:nvSpPr>
        <p:spPr>
          <a:xfrm>
            <a:off x="4095927" y="234206"/>
            <a:ext cx="3959946" cy="961664"/>
          </a:xfrm>
          <a:prstGeom prst="roundRect">
            <a:avLst/>
          </a:prstGeom>
          <a:gradFill flip="none" rotWithShape="1">
            <a:gsLst>
              <a:gs pos="0">
                <a:srgbClr val="FFDBB7"/>
              </a:gs>
              <a:gs pos="100000">
                <a:srgbClr val="F2B4C0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0BED42-827C-0684-D2AB-E1321AABB489}"/>
              </a:ext>
            </a:extLst>
          </p:cNvPr>
          <p:cNvSpPr/>
          <p:nvPr/>
        </p:nvSpPr>
        <p:spPr>
          <a:xfrm>
            <a:off x="8119284" y="124096"/>
            <a:ext cx="3972006" cy="1181883"/>
          </a:xfrm>
          <a:prstGeom prst="roundRect">
            <a:avLst/>
          </a:prstGeom>
          <a:gradFill flip="none" rotWithShape="1">
            <a:gsLst>
              <a:gs pos="0">
                <a:srgbClr val="FF8B1E"/>
              </a:gs>
              <a:gs pos="100000">
                <a:srgbClr val="C22F3C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375FC6-2069-7E7B-E458-210F1C85A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093" y="1506118"/>
            <a:ext cx="5850936" cy="494000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5D75EA-2705-6AC3-7D70-E5AB1EF0A296}"/>
              </a:ext>
            </a:extLst>
          </p:cNvPr>
          <p:cNvSpPr txBox="1"/>
          <p:nvPr/>
        </p:nvSpPr>
        <p:spPr>
          <a:xfrm>
            <a:off x="0" y="1241082"/>
            <a:ext cx="5557186" cy="5580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Angry / Sad: Very strong, high accuracy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Happy: Moderate, often confused with Angry &amp; Neutral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Neutral: Weak, misclassified as Sad/Happy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Fear / Disgust: Low, overlapping with other emotions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Surprise / Boredom: Very weak due to imbalance</a:t>
            </a:r>
          </a:p>
        </p:txBody>
      </p:sp>
    </p:spTree>
    <p:extLst>
      <p:ext uri="{BB962C8B-B14F-4D97-AF65-F5344CB8AC3E}">
        <p14:creationId xmlns:p14="http://schemas.microsoft.com/office/powerpoint/2010/main" val="37674392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28792-D978-6855-AA5F-72ADF185F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386862-DD30-ADD6-75A8-597471F66513}"/>
              </a:ext>
            </a:extLst>
          </p:cNvPr>
          <p:cNvSpPr/>
          <p:nvPr/>
        </p:nvSpPr>
        <p:spPr>
          <a:xfrm>
            <a:off x="0" y="-1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BC4402DA-C8CF-24D1-4FE6-C13F37AB6CE9}"/>
              </a:ext>
            </a:extLst>
          </p:cNvPr>
          <p:cNvSpPr txBox="1">
            <a:spLocks/>
          </p:cNvSpPr>
          <p:nvPr/>
        </p:nvSpPr>
        <p:spPr>
          <a:xfrm>
            <a:off x="-499403" y="-1266577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Long Short-Term Memory (LSTM)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B709AF-6A4B-8F23-3F30-60B8892D8E14}"/>
              </a:ext>
            </a:extLst>
          </p:cNvPr>
          <p:cNvSpPr/>
          <p:nvPr/>
        </p:nvSpPr>
        <p:spPr>
          <a:xfrm>
            <a:off x="2304625" y="2449685"/>
            <a:ext cx="7715311" cy="3152831"/>
          </a:xfrm>
          <a:prstGeom prst="roundRect">
            <a:avLst/>
          </a:prstGeom>
          <a:gradFill>
            <a:gsLst>
              <a:gs pos="0">
                <a:srgbClr val="B71F3C">
                  <a:alpha val="12000"/>
                </a:srgbClr>
              </a:gs>
              <a:gs pos="100000">
                <a:srgbClr val="FF8C1A">
                  <a:alpha val="13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193AE4-E9FB-F4A4-572F-23EEA871A4A7}"/>
              </a:ext>
            </a:extLst>
          </p:cNvPr>
          <p:cNvSpPr txBox="1"/>
          <p:nvPr/>
        </p:nvSpPr>
        <p:spPr>
          <a:xfrm>
            <a:off x="2403080" y="2387601"/>
            <a:ext cx="7945603" cy="290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Learns temporal dependencies in speech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Improved on Fear &amp; Sad compared to CNN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Struggled with Surprise, Calm, Boredom</a:t>
            </a:r>
          </a:p>
        </p:txBody>
      </p:sp>
    </p:spTree>
    <p:extLst>
      <p:ext uri="{BB962C8B-B14F-4D97-AF65-F5344CB8AC3E}">
        <p14:creationId xmlns:p14="http://schemas.microsoft.com/office/powerpoint/2010/main" val="31560381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C9B41-EB37-0F32-B8C8-3D1BF836E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BFB240-568D-2AFA-C61B-398145A4D242}"/>
              </a:ext>
            </a:extLst>
          </p:cNvPr>
          <p:cNvSpPr/>
          <p:nvPr/>
        </p:nvSpPr>
        <p:spPr>
          <a:xfrm>
            <a:off x="0" y="-1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A1864BD-D125-39F0-62E2-3C4D37D2BD6B}"/>
              </a:ext>
            </a:extLst>
          </p:cNvPr>
          <p:cNvSpPr txBox="1">
            <a:spLocks/>
          </p:cNvSpPr>
          <p:nvPr/>
        </p:nvSpPr>
        <p:spPr>
          <a:xfrm>
            <a:off x="-499403" y="-1266577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Long Short-Term Memory (LSTM)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B475B74C-7173-E954-14F9-0D0229B38D38}"/>
              </a:ext>
            </a:extLst>
          </p:cNvPr>
          <p:cNvSpPr txBox="1">
            <a:spLocks/>
          </p:cNvSpPr>
          <p:nvPr/>
        </p:nvSpPr>
        <p:spPr>
          <a:xfrm>
            <a:off x="-8971179" y="1848901"/>
            <a:ext cx="8542039" cy="3382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Captures Spatial Patterns in features.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Performed well on angry, sad.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Weak on subtle classes: Fear, Surprise, Disgust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58C5AA0-902E-2223-C0D5-264025C56513}"/>
              </a:ext>
            </a:extLst>
          </p:cNvPr>
          <p:cNvSpPr/>
          <p:nvPr/>
        </p:nvSpPr>
        <p:spPr>
          <a:xfrm>
            <a:off x="2613540" y="1944762"/>
            <a:ext cx="3159205" cy="2017561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Hyperparameter Tuning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C1EEB0-73D9-913C-98C2-61F0EB5101C5}"/>
              </a:ext>
            </a:extLst>
          </p:cNvPr>
          <p:cNvSpPr/>
          <p:nvPr/>
        </p:nvSpPr>
        <p:spPr>
          <a:xfrm>
            <a:off x="6379478" y="1944761"/>
            <a:ext cx="3159205" cy="2017561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0DBBD8-0E20-5382-6546-124CAF1D30FE}"/>
              </a:ext>
            </a:extLst>
          </p:cNvPr>
          <p:cNvSpPr/>
          <p:nvPr/>
        </p:nvSpPr>
        <p:spPr>
          <a:xfrm>
            <a:off x="2613540" y="4230838"/>
            <a:ext cx="3159205" cy="2017561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6CA8C8-FF6F-5712-099D-1F8C8FB97321}"/>
              </a:ext>
            </a:extLst>
          </p:cNvPr>
          <p:cNvSpPr/>
          <p:nvPr/>
        </p:nvSpPr>
        <p:spPr>
          <a:xfrm>
            <a:off x="6379479" y="4230838"/>
            <a:ext cx="3159205" cy="2017561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 of Results</a:t>
            </a:r>
            <a:endParaRPr lang="en-US" sz="2800" dirty="0">
              <a:latin typeface="Expo Book SSi" panose="020B08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094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60F40-3C9F-99B7-DFC5-F6A95D78D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6A08B5-6914-95D3-ABEF-0D17F61538DD}"/>
              </a:ext>
            </a:extLst>
          </p:cNvPr>
          <p:cNvSpPr/>
          <p:nvPr/>
        </p:nvSpPr>
        <p:spPr>
          <a:xfrm>
            <a:off x="0" y="-1524000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BD89C8C-A443-31EA-8253-D62870D4AFC6}"/>
              </a:ext>
            </a:extLst>
          </p:cNvPr>
          <p:cNvSpPr txBox="1">
            <a:spLocks/>
          </p:cNvSpPr>
          <p:nvPr/>
        </p:nvSpPr>
        <p:spPr>
          <a:xfrm>
            <a:off x="-499403" y="-2790576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Long Short-Term Memory (LSTM)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0949D9FB-7F3C-2533-DCA2-CF4ED9D8CB16}"/>
              </a:ext>
            </a:extLst>
          </p:cNvPr>
          <p:cNvSpPr txBox="1">
            <a:spLocks/>
          </p:cNvSpPr>
          <p:nvPr/>
        </p:nvSpPr>
        <p:spPr>
          <a:xfrm>
            <a:off x="-8971179" y="1848901"/>
            <a:ext cx="8542039" cy="3382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Captures Spatial Patterns in features.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Performed well on angry, sad.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Weak on subtle classes: Fear, Surprise, Disgust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DC468B2-C3E5-C056-79A1-125A70BEABA6}"/>
              </a:ext>
            </a:extLst>
          </p:cNvPr>
          <p:cNvSpPr/>
          <p:nvPr/>
        </p:nvSpPr>
        <p:spPr>
          <a:xfrm>
            <a:off x="0" y="142179"/>
            <a:ext cx="3672114" cy="1739469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Hyperparameter Tuning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149533-1ADF-E1BC-1D9A-02F1FCD6B022}"/>
              </a:ext>
            </a:extLst>
          </p:cNvPr>
          <p:cNvSpPr/>
          <p:nvPr/>
        </p:nvSpPr>
        <p:spPr>
          <a:xfrm>
            <a:off x="0" y="2106637"/>
            <a:ext cx="3159205" cy="1322363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43BB18-6AEE-456D-8273-B97B1BD374F4}"/>
              </a:ext>
            </a:extLst>
          </p:cNvPr>
          <p:cNvSpPr/>
          <p:nvPr/>
        </p:nvSpPr>
        <p:spPr>
          <a:xfrm>
            <a:off x="0" y="3653989"/>
            <a:ext cx="3159204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974F8-C6F0-0D7E-6741-DAD57A5C5472}"/>
              </a:ext>
            </a:extLst>
          </p:cNvPr>
          <p:cNvSpPr/>
          <p:nvPr/>
        </p:nvSpPr>
        <p:spPr>
          <a:xfrm>
            <a:off x="-1" y="5231229"/>
            <a:ext cx="3159205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 of Results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pic>
        <p:nvPicPr>
          <p:cNvPr id="8" name="Picture 7" descr="A graph of blue rectangular bars&#10;&#10;Description automatically generated with medium confidence">
            <a:extLst>
              <a:ext uri="{FF2B5EF4-FFF2-40B4-BE49-F238E27FC236}">
                <a16:creationId xmlns:a16="http://schemas.microsoft.com/office/drawing/2014/main" id="{6B9F2654-FB4B-7706-46F0-E0E43D5440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1254" y="923046"/>
            <a:ext cx="7392745" cy="52438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96928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804AA-F538-25F9-6B91-F29C5603D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DB0F2A-E44F-C2E8-0C06-2E136260AD68}"/>
              </a:ext>
            </a:extLst>
          </p:cNvPr>
          <p:cNvSpPr/>
          <p:nvPr/>
        </p:nvSpPr>
        <p:spPr>
          <a:xfrm>
            <a:off x="0" y="-1524000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F19A035-81EF-82C1-4925-B0C8D4F480F9}"/>
              </a:ext>
            </a:extLst>
          </p:cNvPr>
          <p:cNvSpPr txBox="1">
            <a:spLocks/>
          </p:cNvSpPr>
          <p:nvPr/>
        </p:nvSpPr>
        <p:spPr>
          <a:xfrm>
            <a:off x="-499403" y="-2790576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Long Short-Term Memory (LSTM)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93290F7F-E03C-689D-16A3-64D11277D88D}"/>
              </a:ext>
            </a:extLst>
          </p:cNvPr>
          <p:cNvSpPr txBox="1">
            <a:spLocks/>
          </p:cNvSpPr>
          <p:nvPr/>
        </p:nvSpPr>
        <p:spPr>
          <a:xfrm>
            <a:off x="-8971179" y="1848901"/>
            <a:ext cx="8542039" cy="3382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Captures Spatial Patterns in features.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Performed well on angry, sad.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Weak on subtle classes: Fear, Surprise, Disgust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5C6B1E5-4FC4-089F-0C46-F15D17BDEABF}"/>
              </a:ext>
            </a:extLst>
          </p:cNvPr>
          <p:cNvSpPr/>
          <p:nvPr/>
        </p:nvSpPr>
        <p:spPr>
          <a:xfrm>
            <a:off x="-1" y="331169"/>
            <a:ext cx="3159204" cy="1316393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Hyperparameter Tuning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6204C0-9387-AFEE-BD54-3799B81EE35D}"/>
              </a:ext>
            </a:extLst>
          </p:cNvPr>
          <p:cNvSpPr/>
          <p:nvPr/>
        </p:nvSpPr>
        <p:spPr>
          <a:xfrm>
            <a:off x="0" y="1848901"/>
            <a:ext cx="3570514" cy="1580099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41A9AB-F942-657D-98AA-8D9BE941D66F}"/>
              </a:ext>
            </a:extLst>
          </p:cNvPr>
          <p:cNvSpPr/>
          <p:nvPr/>
        </p:nvSpPr>
        <p:spPr>
          <a:xfrm>
            <a:off x="0" y="3653989"/>
            <a:ext cx="3159204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E800AA-EE57-1ECD-6A42-C9B461CA8117}"/>
              </a:ext>
            </a:extLst>
          </p:cNvPr>
          <p:cNvSpPr/>
          <p:nvPr/>
        </p:nvSpPr>
        <p:spPr>
          <a:xfrm>
            <a:off x="-1" y="5231229"/>
            <a:ext cx="3159205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 of Results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A4C9B-0E51-D5B8-DE67-D27D20BE76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9962" y="1647562"/>
            <a:ext cx="8411409" cy="41461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75207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E85D-60D4-56A9-55A1-3869F80C5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57C305-88C6-2130-3C49-10E666422B72}"/>
              </a:ext>
            </a:extLst>
          </p:cNvPr>
          <p:cNvSpPr/>
          <p:nvPr/>
        </p:nvSpPr>
        <p:spPr>
          <a:xfrm>
            <a:off x="0" y="-1524000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B9D0327-66E8-39B5-3A59-98DBB8A9465E}"/>
              </a:ext>
            </a:extLst>
          </p:cNvPr>
          <p:cNvSpPr txBox="1">
            <a:spLocks/>
          </p:cNvSpPr>
          <p:nvPr/>
        </p:nvSpPr>
        <p:spPr>
          <a:xfrm>
            <a:off x="-499403" y="-2790576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Long Short-Term Memory (LSTM)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A9FD21A-1023-76A5-9ED3-2F787C63FEDE}"/>
              </a:ext>
            </a:extLst>
          </p:cNvPr>
          <p:cNvSpPr/>
          <p:nvPr/>
        </p:nvSpPr>
        <p:spPr>
          <a:xfrm>
            <a:off x="-1" y="331169"/>
            <a:ext cx="3159204" cy="1316393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Hyperparameter Tuning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3DB833-16FC-BB8C-D13F-6146BB4E0183}"/>
              </a:ext>
            </a:extLst>
          </p:cNvPr>
          <p:cNvSpPr/>
          <p:nvPr/>
        </p:nvSpPr>
        <p:spPr>
          <a:xfrm>
            <a:off x="0" y="1902438"/>
            <a:ext cx="3159203" cy="131639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1A562C-8511-4491-BC6B-A7B01EC19B38}"/>
              </a:ext>
            </a:extLst>
          </p:cNvPr>
          <p:cNvSpPr/>
          <p:nvPr/>
        </p:nvSpPr>
        <p:spPr>
          <a:xfrm>
            <a:off x="0" y="3472939"/>
            <a:ext cx="3512458" cy="1504182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CAF090-422A-C5DD-9096-6DD01403007E}"/>
              </a:ext>
            </a:extLst>
          </p:cNvPr>
          <p:cNvSpPr/>
          <p:nvPr/>
        </p:nvSpPr>
        <p:spPr>
          <a:xfrm>
            <a:off x="-1" y="5231229"/>
            <a:ext cx="3159205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 of Results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40DD2C-E07D-81A9-A46F-CD440F593C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8965" y="331169"/>
            <a:ext cx="5784786" cy="5062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0982A47-3863-8B97-4583-586297550BA2}"/>
              </a:ext>
            </a:extLst>
          </p:cNvPr>
          <p:cNvSpPr txBox="1"/>
          <p:nvPr/>
        </p:nvSpPr>
        <p:spPr>
          <a:xfrm>
            <a:off x="4223656" y="5405394"/>
            <a:ext cx="7518400" cy="1148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Fear and Surprise were detected more accurately than in CNN, thanks to sequential modeling</a:t>
            </a:r>
          </a:p>
        </p:txBody>
      </p:sp>
    </p:spTree>
    <p:extLst>
      <p:ext uri="{BB962C8B-B14F-4D97-AF65-F5344CB8AC3E}">
        <p14:creationId xmlns:p14="http://schemas.microsoft.com/office/powerpoint/2010/main" val="10881755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5B5C3-DBB0-FDF7-A7AD-94EABBD88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328EF8A-0C7B-5795-8856-1A53196A9EF7}"/>
              </a:ext>
            </a:extLst>
          </p:cNvPr>
          <p:cNvSpPr/>
          <p:nvPr/>
        </p:nvSpPr>
        <p:spPr>
          <a:xfrm>
            <a:off x="3933371" y="464457"/>
            <a:ext cx="7715311" cy="6110515"/>
          </a:xfrm>
          <a:prstGeom prst="roundRect">
            <a:avLst/>
          </a:prstGeom>
          <a:gradFill>
            <a:gsLst>
              <a:gs pos="0">
                <a:srgbClr val="B71F3C">
                  <a:alpha val="12000"/>
                </a:srgbClr>
              </a:gs>
              <a:gs pos="100000">
                <a:srgbClr val="FF8C1A">
                  <a:alpha val="13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291118-29D6-89E0-B53A-C7E45AA71848}"/>
              </a:ext>
            </a:extLst>
          </p:cNvPr>
          <p:cNvSpPr/>
          <p:nvPr/>
        </p:nvSpPr>
        <p:spPr>
          <a:xfrm>
            <a:off x="0" y="-1524000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E6E9B1E-8D7B-4D89-589F-253CBB50AC9D}"/>
              </a:ext>
            </a:extLst>
          </p:cNvPr>
          <p:cNvSpPr txBox="1">
            <a:spLocks/>
          </p:cNvSpPr>
          <p:nvPr/>
        </p:nvSpPr>
        <p:spPr>
          <a:xfrm>
            <a:off x="-499403" y="-2790576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Long Short-Term Memory (LSTM)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7F0AC9FC-C868-AECB-0B32-11CF5CACA014}"/>
              </a:ext>
            </a:extLst>
          </p:cNvPr>
          <p:cNvSpPr txBox="1">
            <a:spLocks/>
          </p:cNvSpPr>
          <p:nvPr/>
        </p:nvSpPr>
        <p:spPr>
          <a:xfrm>
            <a:off x="-8971179" y="1848901"/>
            <a:ext cx="8542039" cy="3382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Captures Spatial Patterns in features.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Performed well on angry, sad.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Weak on subtle classes: Fear, Surprise, Disgust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91DE399-69D1-C2D7-6268-63774B184A68}"/>
              </a:ext>
            </a:extLst>
          </p:cNvPr>
          <p:cNvSpPr/>
          <p:nvPr/>
        </p:nvSpPr>
        <p:spPr>
          <a:xfrm>
            <a:off x="-1" y="331169"/>
            <a:ext cx="3159204" cy="1316393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Hyperparameter Tuning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D98AF14-5443-B9A1-28AF-61CEB80FFC92}"/>
              </a:ext>
            </a:extLst>
          </p:cNvPr>
          <p:cNvSpPr/>
          <p:nvPr/>
        </p:nvSpPr>
        <p:spPr>
          <a:xfrm>
            <a:off x="0" y="1902438"/>
            <a:ext cx="3159203" cy="131639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412CC8-EE53-16C5-FF34-09D706313A3A}"/>
              </a:ext>
            </a:extLst>
          </p:cNvPr>
          <p:cNvSpPr/>
          <p:nvPr/>
        </p:nvSpPr>
        <p:spPr>
          <a:xfrm>
            <a:off x="0" y="3472939"/>
            <a:ext cx="3159203" cy="131639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403415-A767-1471-C7EA-A04AAF66FB04}"/>
              </a:ext>
            </a:extLst>
          </p:cNvPr>
          <p:cNvSpPr/>
          <p:nvPr/>
        </p:nvSpPr>
        <p:spPr>
          <a:xfrm>
            <a:off x="-1" y="5043439"/>
            <a:ext cx="3614058" cy="1589589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 of Results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6F3F74-3BE2-3D5F-57AC-B8A36A941EA0}"/>
              </a:ext>
            </a:extLst>
          </p:cNvPr>
          <p:cNvSpPr txBox="1"/>
          <p:nvPr/>
        </p:nvSpPr>
        <p:spPr>
          <a:xfrm>
            <a:off x="4130282" y="638909"/>
            <a:ext cx="7518400" cy="5580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Angry / Sad: Excellent recognition (191, 159 correct)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Happy: Moderate, overlaps with Angry &amp; Neutral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Neutral: Weak, scattered across multiple classes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Fear / Disgust: Low, frequent misclassifications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Calm / Boredom / Surprise: Very poor, failed on Surprise (0 correct)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Insight: Captures temporal patterns → boosts strong emotions, but imbalance hurts low-frequency classes</a:t>
            </a:r>
          </a:p>
        </p:txBody>
      </p:sp>
    </p:spTree>
    <p:extLst>
      <p:ext uri="{BB962C8B-B14F-4D97-AF65-F5344CB8AC3E}">
        <p14:creationId xmlns:p14="http://schemas.microsoft.com/office/powerpoint/2010/main" val="12690408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3C6AF-5077-EA4F-7F45-BAD46472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F8E901-DF32-51DA-4573-191A00579524}"/>
              </a:ext>
            </a:extLst>
          </p:cNvPr>
          <p:cNvSpPr/>
          <p:nvPr/>
        </p:nvSpPr>
        <p:spPr>
          <a:xfrm>
            <a:off x="0" y="-1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A2CBC2-BAA7-86E9-FD22-8E837A2AAABE}"/>
              </a:ext>
            </a:extLst>
          </p:cNvPr>
          <p:cNvSpPr txBox="1">
            <a:spLocks/>
          </p:cNvSpPr>
          <p:nvPr/>
        </p:nvSpPr>
        <p:spPr>
          <a:xfrm>
            <a:off x="-499403" y="-1266577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CNN + LSTM Hybrid Model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926BFCB-F15F-4F61-0381-DE027C33DE3A}"/>
              </a:ext>
            </a:extLst>
          </p:cNvPr>
          <p:cNvSpPr txBox="1">
            <a:spLocks/>
          </p:cNvSpPr>
          <p:nvPr/>
        </p:nvSpPr>
        <p:spPr>
          <a:xfrm>
            <a:off x="2051422" y="2153309"/>
            <a:ext cx="8542039" cy="338232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Captures local spectral features (MFCCs &amp; spectrograms)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Strong for Angry &amp; Sad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Moderate for Happy, weak for Neutral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Very poor on Fear, Disgust, Surprise, Boredom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8DCFFF9-133F-05C4-67B5-C774A80B1AFA}"/>
              </a:ext>
            </a:extLst>
          </p:cNvPr>
          <p:cNvSpPr/>
          <p:nvPr/>
        </p:nvSpPr>
        <p:spPr>
          <a:xfrm>
            <a:off x="1824980" y="2017935"/>
            <a:ext cx="8768481" cy="3938616"/>
          </a:xfrm>
          <a:prstGeom prst="roundRect">
            <a:avLst/>
          </a:prstGeom>
          <a:gradFill>
            <a:gsLst>
              <a:gs pos="0">
                <a:srgbClr val="B71F3C">
                  <a:alpha val="12000"/>
                </a:srgbClr>
              </a:gs>
              <a:gs pos="100000">
                <a:srgbClr val="FF8C1A">
                  <a:alpha val="13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9115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70DB8-7ED6-2779-E114-AF21BD5D8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3EFA4A-5B40-EA1A-884F-75FE10A41F43}"/>
              </a:ext>
            </a:extLst>
          </p:cNvPr>
          <p:cNvSpPr/>
          <p:nvPr/>
        </p:nvSpPr>
        <p:spPr>
          <a:xfrm>
            <a:off x="0" y="-1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082176F-4D9F-87AE-7485-D88C5C21BA61}"/>
              </a:ext>
            </a:extLst>
          </p:cNvPr>
          <p:cNvSpPr txBox="1">
            <a:spLocks/>
          </p:cNvSpPr>
          <p:nvPr/>
        </p:nvSpPr>
        <p:spPr>
          <a:xfrm>
            <a:off x="-499403" y="-1266577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CNN + LSTM Hybrid Model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5FE0C64-ADE8-EFE2-C029-74C2050E3759}"/>
              </a:ext>
            </a:extLst>
          </p:cNvPr>
          <p:cNvSpPr/>
          <p:nvPr/>
        </p:nvSpPr>
        <p:spPr>
          <a:xfrm>
            <a:off x="2613540" y="1944763"/>
            <a:ext cx="3159205" cy="1322364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Architecture &amp; Training Setup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4BBB3C-EE84-EEC7-DAC3-AF1230EBF7F2}"/>
              </a:ext>
            </a:extLst>
          </p:cNvPr>
          <p:cNvSpPr/>
          <p:nvPr/>
        </p:nvSpPr>
        <p:spPr>
          <a:xfrm>
            <a:off x="6379478" y="1944762"/>
            <a:ext cx="3159205" cy="1322364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B669DA-A495-5403-9599-A9C768948A2C}"/>
              </a:ext>
            </a:extLst>
          </p:cNvPr>
          <p:cNvSpPr/>
          <p:nvPr/>
        </p:nvSpPr>
        <p:spPr>
          <a:xfrm>
            <a:off x="6419256" y="3590871"/>
            <a:ext cx="3159205" cy="1322365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830DA2-53AD-9215-947E-F36F6648F59E}"/>
              </a:ext>
            </a:extLst>
          </p:cNvPr>
          <p:cNvSpPr/>
          <p:nvPr/>
        </p:nvSpPr>
        <p:spPr>
          <a:xfrm>
            <a:off x="2613539" y="5236982"/>
            <a:ext cx="6925144" cy="1322363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 of Results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7BECFF-6DBB-733D-2015-EA2E36289F27}"/>
              </a:ext>
            </a:extLst>
          </p:cNvPr>
          <p:cNvSpPr/>
          <p:nvPr/>
        </p:nvSpPr>
        <p:spPr>
          <a:xfrm>
            <a:off x="2613539" y="3590872"/>
            <a:ext cx="3159205" cy="1322364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Test-Set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5007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1D13D-7411-09AD-92F0-93F93AA0E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38EFF2-0F7F-061D-9524-1FE38070FDBD}"/>
              </a:ext>
            </a:extLst>
          </p:cNvPr>
          <p:cNvSpPr/>
          <p:nvPr/>
        </p:nvSpPr>
        <p:spPr>
          <a:xfrm>
            <a:off x="0" y="-1712686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68234AEA-E536-962D-6946-B78A4ADF6C39}"/>
              </a:ext>
            </a:extLst>
          </p:cNvPr>
          <p:cNvSpPr txBox="1">
            <a:spLocks/>
          </p:cNvSpPr>
          <p:nvPr/>
        </p:nvSpPr>
        <p:spPr>
          <a:xfrm>
            <a:off x="-499403" y="-2979262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CNN + LSTM Hybrid Model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2A4C9C-2663-12C2-A008-04F3FFA85832}"/>
              </a:ext>
            </a:extLst>
          </p:cNvPr>
          <p:cNvSpPr/>
          <p:nvPr/>
        </p:nvSpPr>
        <p:spPr>
          <a:xfrm>
            <a:off x="304800" y="76571"/>
            <a:ext cx="2989945" cy="1607086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Architecture &amp; Training Setup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636485-703F-DAC1-D29C-9A6CEA1F13AE}"/>
              </a:ext>
            </a:extLst>
          </p:cNvPr>
          <p:cNvSpPr/>
          <p:nvPr/>
        </p:nvSpPr>
        <p:spPr>
          <a:xfrm>
            <a:off x="3447594" y="76571"/>
            <a:ext cx="2532294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F4694F-C193-4C12-EAAF-EF19831B113C}"/>
              </a:ext>
            </a:extLst>
          </p:cNvPr>
          <p:cNvSpPr/>
          <p:nvPr/>
        </p:nvSpPr>
        <p:spPr>
          <a:xfrm>
            <a:off x="9006566" y="76571"/>
            <a:ext cx="2532294" cy="1322365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F10E3D-1832-C00B-055D-505CF88288D5}"/>
              </a:ext>
            </a:extLst>
          </p:cNvPr>
          <p:cNvSpPr/>
          <p:nvPr/>
        </p:nvSpPr>
        <p:spPr>
          <a:xfrm>
            <a:off x="6227080" y="76571"/>
            <a:ext cx="2532294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Test-Set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21B40B8-5319-2AAB-E976-789B9A163CCC}"/>
              </a:ext>
            </a:extLst>
          </p:cNvPr>
          <p:cNvSpPr/>
          <p:nvPr/>
        </p:nvSpPr>
        <p:spPr>
          <a:xfrm>
            <a:off x="1333404" y="1865829"/>
            <a:ext cx="9525191" cy="4557616"/>
          </a:xfrm>
          <a:prstGeom prst="roundRect">
            <a:avLst/>
          </a:prstGeom>
          <a:gradFill>
            <a:gsLst>
              <a:gs pos="5000">
                <a:srgbClr val="B71F3C">
                  <a:alpha val="21000"/>
                </a:srgbClr>
              </a:gs>
              <a:gs pos="100000">
                <a:srgbClr val="FF8C1A">
                  <a:alpha val="13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Trained on MFCC features with speaker-independent splits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Loss/Optimizer: Categorical cross-entropy, Adam (</a:t>
            </a:r>
            <a:r>
              <a:rPr lang="en-US" sz="2800" dirty="0" err="1">
                <a:solidFill>
                  <a:schemeClr val="tx1"/>
                </a:solidFill>
              </a:rPr>
              <a:t>lr</a:t>
            </a:r>
            <a:r>
              <a:rPr lang="en-US" sz="2800" dirty="0">
                <a:solidFill>
                  <a:schemeClr val="tx1"/>
                </a:solidFill>
              </a:rPr>
              <a:t> = 1e-3)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Input preprocessing: Standardized with training set statistics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Overfitting control: Early stopping + validation monitoring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Evaluation: Accuracy + imbalance-aware metrics</a:t>
            </a:r>
          </a:p>
        </p:txBody>
      </p:sp>
    </p:spTree>
    <p:extLst>
      <p:ext uri="{BB962C8B-B14F-4D97-AF65-F5344CB8AC3E}">
        <p14:creationId xmlns:p14="http://schemas.microsoft.com/office/powerpoint/2010/main" val="2068252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50A7A-6C1B-021C-6237-C1F703B6A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7AB958-B1B0-E979-2147-B92A5228D849}"/>
              </a:ext>
            </a:extLst>
          </p:cNvPr>
          <p:cNvSpPr/>
          <p:nvPr/>
        </p:nvSpPr>
        <p:spPr>
          <a:xfrm>
            <a:off x="0" y="-1712686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55D42C8-77D4-BE11-6D47-57524DA1DB9C}"/>
              </a:ext>
            </a:extLst>
          </p:cNvPr>
          <p:cNvSpPr txBox="1">
            <a:spLocks/>
          </p:cNvSpPr>
          <p:nvPr/>
        </p:nvSpPr>
        <p:spPr>
          <a:xfrm>
            <a:off x="-499403" y="-2979262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CNN + LSTM Hybrid Model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583563-2510-E1C1-171A-CF24A0B384AC}"/>
              </a:ext>
            </a:extLst>
          </p:cNvPr>
          <p:cNvSpPr/>
          <p:nvPr/>
        </p:nvSpPr>
        <p:spPr>
          <a:xfrm>
            <a:off x="304801" y="76571"/>
            <a:ext cx="2532294" cy="1322363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Architecture &amp; Training Setup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528B71-7E4E-F3BB-6D46-2C8308538817}"/>
              </a:ext>
            </a:extLst>
          </p:cNvPr>
          <p:cNvSpPr/>
          <p:nvPr/>
        </p:nvSpPr>
        <p:spPr>
          <a:xfrm>
            <a:off x="2960914" y="76571"/>
            <a:ext cx="3135085" cy="1490972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FDB934D-1373-E5E8-85FF-441C5E1FE41A}"/>
              </a:ext>
            </a:extLst>
          </p:cNvPr>
          <p:cNvSpPr/>
          <p:nvPr/>
        </p:nvSpPr>
        <p:spPr>
          <a:xfrm>
            <a:off x="9006566" y="76571"/>
            <a:ext cx="2532294" cy="1322365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F2191B7-3AC4-E45B-67A9-AE7F0A81DEE1}"/>
              </a:ext>
            </a:extLst>
          </p:cNvPr>
          <p:cNvSpPr/>
          <p:nvPr/>
        </p:nvSpPr>
        <p:spPr>
          <a:xfrm>
            <a:off x="6227080" y="76571"/>
            <a:ext cx="2532294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Test-Set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1BC04B-AEE1-7C3F-4E71-049F0D9D65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64" y="1865828"/>
            <a:ext cx="11315231" cy="459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2549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A498A-8ADA-A0C2-9BBD-5BE603A02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BC0B47-849B-91F4-06EE-834430E52DA8}"/>
              </a:ext>
            </a:extLst>
          </p:cNvPr>
          <p:cNvSpPr/>
          <p:nvPr/>
        </p:nvSpPr>
        <p:spPr>
          <a:xfrm>
            <a:off x="0" y="-1712686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BB3BDCFB-96CC-111C-FBFA-3085426A42A3}"/>
              </a:ext>
            </a:extLst>
          </p:cNvPr>
          <p:cNvSpPr txBox="1">
            <a:spLocks/>
          </p:cNvSpPr>
          <p:nvPr/>
        </p:nvSpPr>
        <p:spPr>
          <a:xfrm>
            <a:off x="-499403" y="-2979262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CNN + LSTM Hybrid Model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A51277-77D2-D21B-9721-0C31A1610F91}"/>
              </a:ext>
            </a:extLst>
          </p:cNvPr>
          <p:cNvSpPr/>
          <p:nvPr/>
        </p:nvSpPr>
        <p:spPr>
          <a:xfrm>
            <a:off x="304800" y="76571"/>
            <a:ext cx="2532295" cy="1322363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Architecture &amp; Training Setup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95B1F2-65B6-8902-9A0E-622C09563779}"/>
              </a:ext>
            </a:extLst>
          </p:cNvPr>
          <p:cNvSpPr/>
          <p:nvPr/>
        </p:nvSpPr>
        <p:spPr>
          <a:xfrm>
            <a:off x="3084287" y="76571"/>
            <a:ext cx="2532294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A971128-5A72-C2D3-158B-1E8C039B04EE}"/>
              </a:ext>
            </a:extLst>
          </p:cNvPr>
          <p:cNvSpPr/>
          <p:nvPr/>
        </p:nvSpPr>
        <p:spPr>
          <a:xfrm>
            <a:off x="9006566" y="76571"/>
            <a:ext cx="2532294" cy="1322365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61A5B6-9095-01B0-BFDE-DE653CF62708}"/>
              </a:ext>
            </a:extLst>
          </p:cNvPr>
          <p:cNvSpPr/>
          <p:nvPr/>
        </p:nvSpPr>
        <p:spPr>
          <a:xfrm>
            <a:off x="5863773" y="76570"/>
            <a:ext cx="2946398" cy="1650629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Test-Set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757ED3E-0607-D6E5-3717-E900A1D15278}"/>
              </a:ext>
            </a:extLst>
          </p:cNvPr>
          <p:cNvSpPr/>
          <p:nvPr/>
        </p:nvSpPr>
        <p:spPr>
          <a:xfrm>
            <a:off x="195494" y="2314233"/>
            <a:ext cx="4681814" cy="3750519"/>
          </a:xfrm>
          <a:prstGeom prst="roundRect">
            <a:avLst/>
          </a:prstGeom>
          <a:gradFill>
            <a:gsLst>
              <a:gs pos="5000">
                <a:srgbClr val="B71F3C">
                  <a:alpha val="21000"/>
                </a:srgbClr>
              </a:gs>
              <a:gs pos="100000">
                <a:srgbClr val="FF8C1A">
                  <a:alpha val="13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Overall test accuracy: ~11%, macro F1: ≈ 0.07 (very low)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Recall: Moderate for Angry &amp; Surprise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Near-zero for Boredom, Calm, Disgust, Neutral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Performance gap indicates class-prior collapse and/or label/feature mismatch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ACE4C6-50A6-ABC9-C6C7-F8CEDF5B2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700" y="2027022"/>
            <a:ext cx="5977527" cy="403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747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9BA51-ECE7-3947-ED70-5E5371CE9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B0DE29-2F95-3C83-F4ED-C93711FA7EF7}"/>
              </a:ext>
            </a:extLst>
          </p:cNvPr>
          <p:cNvSpPr/>
          <p:nvPr/>
        </p:nvSpPr>
        <p:spPr>
          <a:xfrm>
            <a:off x="0" y="-1712686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CA85E8AD-D15D-3553-D5E1-29E5BB79BD79}"/>
              </a:ext>
            </a:extLst>
          </p:cNvPr>
          <p:cNvSpPr txBox="1">
            <a:spLocks/>
          </p:cNvSpPr>
          <p:nvPr/>
        </p:nvSpPr>
        <p:spPr>
          <a:xfrm>
            <a:off x="-499403" y="-2979262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CNN + LSTM Hybrid Model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345CE3-BDBB-8700-3A83-935A6F81E833}"/>
              </a:ext>
            </a:extLst>
          </p:cNvPr>
          <p:cNvSpPr/>
          <p:nvPr/>
        </p:nvSpPr>
        <p:spPr>
          <a:xfrm>
            <a:off x="304801" y="76571"/>
            <a:ext cx="2532294" cy="1322363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Architecture &amp; Training Setup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928EE55-A2A6-62FD-9B96-1B7DE839CAFB}"/>
              </a:ext>
            </a:extLst>
          </p:cNvPr>
          <p:cNvSpPr/>
          <p:nvPr/>
        </p:nvSpPr>
        <p:spPr>
          <a:xfrm>
            <a:off x="3084287" y="76570"/>
            <a:ext cx="2532294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7FF4F7-B66D-0F07-422D-1EE51A940594}"/>
              </a:ext>
            </a:extLst>
          </p:cNvPr>
          <p:cNvSpPr/>
          <p:nvPr/>
        </p:nvSpPr>
        <p:spPr>
          <a:xfrm>
            <a:off x="8643259" y="76571"/>
            <a:ext cx="3113312" cy="1578058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B22C281-610C-A47E-ABFB-4839B1CFA239}"/>
              </a:ext>
            </a:extLst>
          </p:cNvPr>
          <p:cNvSpPr/>
          <p:nvPr/>
        </p:nvSpPr>
        <p:spPr>
          <a:xfrm>
            <a:off x="5863773" y="76570"/>
            <a:ext cx="2532294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Test-Set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98F51ED-1BE8-FBDF-D22D-46474EA2E43C}"/>
              </a:ext>
            </a:extLst>
          </p:cNvPr>
          <p:cNvSpPr/>
          <p:nvPr/>
        </p:nvSpPr>
        <p:spPr>
          <a:xfrm>
            <a:off x="6575421" y="2121523"/>
            <a:ext cx="5283648" cy="3663037"/>
          </a:xfrm>
          <a:prstGeom prst="roundRect">
            <a:avLst/>
          </a:prstGeom>
          <a:gradFill>
            <a:gsLst>
              <a:gs pos="5000">
                <a:srgbClr val="B71F3C">
                  <a:alpha val="21000"/>
                </a:srgbClr>
              </a:gs>
              <a:gs pos="100000">
                <a:srgbClr val="FF8C1A">
                  <a:alpha val="13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Angry/Happy/Fear → often misclassified as Surprise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Neutral &amp; Sad → overlap due to low-energy patterns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Boredom/Calm/Disgust → rarely predicted (minority collapse)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Causes: Class imbalance, limited temporal context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1B6621-37F5-9262-8206-F79A22A3A4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06" y="1455561"/>
            <a:ext cx="6308719" cy="49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2427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21699-813C-F39D-5E80-E9CE18515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68A4FC-8756-EE36-1E6A-4EDDC2BF8668}"/>
              </a:ext>
            </a:extLst>
          </p:cNvPr>
          <p:cNvSpPr/>
          <p:nvPr/>
        </p:nvSpPr>
        <p:spPr>
          <a:xfrm>
            <a:off x="0" y="-1712686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3325277-B92E-B9F7-B446-859DD64AF330}"/>
              </a:ext>
            </a:extLst>
          </p:cNvPr>
          <p:cNvSpPr txBox="1">
            <a:spLocks/>
          </p:cNvSpPr>
          <p:nvPr/>
        </p:nvSpPr>
        <p:spPr>
          <a:xfrm>
            <a:off x="-499403" y="-2979262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CNN + LSTM Hybrid 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A4B017-8D4A-3DCA-331C-EC4E01C18F3B}"/>
              </a:ext>
            </a:extLst>
          </p:cNvPr>
          <p:cNvSpPr/>
          <p:nvPr/>
        </p:nvSpPr>
        <p:spPr>
          <a:xfrm>
            <a:off x="2633428" y="215071"/>
            <a:ext cx="6925144" cy="1322363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 of Results (CNN+LSTM)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5B0B24-F91D-49A7-9BD9-99AC3C72A340}"/>
              </a:ext>
            </a:extLst>
          </p:cNvPr>
          <p:cNvSpPr/>
          <p:nvPr/>
        </p:nvSpPr>
        <p:spPr>
          <a:xfrm>
            <a:off x="1333404" y="2244020"/>
            <a:ext cx="9525191" cy="3643086"/>
          </a:xfrm>
          <a:prstGeom prst="roundRect">
            <a:avLst/>
          </a:prstGeom>
          <a:gradFill>
            <a:gsLst>
              <a:gs pos="5000">
                <a:srgbClr val="B71F3C">
                  <a:alpha val="21000"/>
                </a:srgbClr>
              </a:gs>
              <a:gs pos="100000">
                <a:srgbClr val="FF8C1A">
                  <a:alpha val="13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Test performance very low: Accuracy ≈ 0.11, Macro-F1 ≈ 0.07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Confusions concentrated in high-arousal classes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Issues: single-timestep input, class imbalance</a:t>
            </a:r>
          </a:p>
        </p:txBody>
      </p:sp>
    </p:spTree>
    <p:extLst>
      <p:ext uri="{BB962C8B-B14F-4D97-AF65-F5344CB8AC3E}">
        <p14:creationId xmlns:p14="http://schemas.microsoft.com/office/powerpoint/2010/main" val="16177680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2F6A7-1E01-4329-4AC6-F1157AE95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E75594-4381-DB9B-2E8F-23E4EEBFE599}"/>
              </a:ext>
            </a:extLst>
          </p:cNvPr>
          <p:cNvSpPr/>
          <p:nvPr/>
        </p:nvSpPr>
        <p:spPr>
          <a:xfrm>
            <a:off x="0" y="-1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8C579AE-6058-2857-D7E1-EF3268827735}"/>
              </a:ext>
            </a:extLst>
          </p:cNvPr>
          <p:cNvSpPr txBox="1">
            <a:spLocks/>
          </p:cNvSpPr>
          <p:nvPr/>
        </p:nvSpPr>
        <p:spPr>
          <a:xfrm>
            <a:off x="-499403" y="-1266577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Random Forest Classifier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90DB35-5C47-F34D-074B-736FD2061437}"/>
              </a:ext>
            </a:extLst>
          </p:cNvPr>
          <p:cNvSpPr/>
          <p:nvPr/>
        </p:nvSpPr>
        <p:spPr>
          <a:xfrm>
            <a:off x="2613540" y="1944763"/>
            <a:ext cx="3159205" cy="1322364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Hyperparameter Tuning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2A2EFF-EC7C-B769-BF63-B0F875A1EDA2}"/>
              </a:ext>
            </a:extLst>
          </p:cNvPr>
          <p:cNvSpPr/>
          <p:nvPr/>
        </p:nvSpPr>
        <p:spPr>
          <a:xfrm>
            <a:off x="6379478" y="1944762"/>
            <a:ext cx="3159205" cy="1322364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Testing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40A09D-F87A-041E-2619-063B4DBEE4C4}"/>
              </a:ext>
            </a:extLst>
          </p:cNvPr>
          <p:cNvSpPr/>
          <p:nvPr/>
        </p:nvSpPr>
        <p:spPr>
          <a:xfrm>
            <a:off x="2613539" y="3756524"/>
            <a:ext cx="6925144" cy="1322363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 of Results</a:t>
            </a:r>
            <a:endParaRPr lang="en-US" sz="2800" dirty="0">
              <a:latin typeface="Expo Book SSi" panose="020B08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6279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26EE5-8175-8173-59D0-2E09F15F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7D6C8D-3527-77BC-311B-4B6D17F8F284}"/>
              </a:ext>
            </a:extLst>
          </p:cNvPr>
          <p:cNvSpPr/>
          <p:nvPr/>
        </p:nvSpPr>
        <p:spPr>
          <a:xfrm>
            <a:off x="0" y="-1959430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4FD3D2C-3ED1-CFD6-C364-6C165C2D787A}"/>
              </a:ext>
            </a:extLst>
          </p:cNvPr>
          <p:cNvSpPr txBox="1">
            <a:spLocks/>
          </p:cNvSpPr>
          <p:nvPr/>
        </p:nvSpPr>
        <p:spPr>
          <a:xfrm>
            <a:off x="-499403" y="-3226006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Random Forest Classifier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BF185B-74A0-435E-B6B3-152DF0CA37C2}"/>
              </a:ext>
            </a:extLst>
          </p:cNvPr>
          <p:cNvSpPr/>
          <p:nvPr/>
        </p:nvSpPr>
        <p:spPr>
          <a:xfrm>
            <a:off x="189655" y="237364"/>
            <a:ext cx="4925036" cy="1322364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Hyperparameter Tuning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556D10-B2D1-C7A1-7FE6-FE85538E959F}"/>
              </a:ext>
            </a:extLst>
          </p:cNvPr>
          <p:cNvSpPr/>
          <p:nvPr/>
        </p:nvSpPr>
        <p:spPr>
          <a:xfrm>
            <a:off x="5281712" y="237364"/>
            <a:ext cx="3159205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Testing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9A1630-AC01-9D6D-BC96-49D67DA1F8D0}"/>
              </a:ext>
            </a:extLst>
          </p:cNvPr>
          <p:cNvSpPr/>
          <p:nvPr/>
        </p:nvSpPr>
        <p:spPr>
          <a:xfrm>
            <a:off x="8607938" y="237365"/>
            <a:ext cx="3159205" cy="1322363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 of Results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pic>
        <p:nvPicPr>
          <p:cNvPr id="2" name="Picture 1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30B12C21-2C35-06C4-C49F-3195ECFD6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55" y="2831994"/>
            <a:ext cx="5456402" cy="2713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E83672-24DE-464D-069E-CC176A0269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057" y="2831994"/>
            <a:ext cx="6356288" cy="27155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593821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DA917-2143-DAF7-1749-D9FFBF594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E244E7-F369-EC81-5D38-FB9D8B1383D0}"/>
              </a:ext>
            </a:extLst>
          </p:cNvPr>
          <p:cNvSpPr/>
          <p:nvPr/>
        </p:nvSpPr>
        <p:spPr>
          <a:xfrm>
            <a:off x="0" y="-1959430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7C36A7C-AD24-1D33-7593-DBEE99825BBE}"/>
              </a:ext>
            </a:extLst>
          </p:cNvPr>
          <p:cNvSpPr txBox="1">
            <a:spLocks/>
          </p:cNvSpPr>
          <p:nvPr/>
        </p:nvSpPr>
        <p:spPr>
          <a:xfrm>
            <a:off x="-499403" y="-3226006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Random Forest Classifier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6D31EB-3AA1-F443-D0ED-8C6BDB7E1126}"/>
              </a:ext>
            </a:extLst>
          </p:cNvPr>
          <p:cNvSpPr/>
          <p:nvPr/>
        </p:nvSpPr>
        <p:spPr>
          <a:xfrm>
            <a:off x="189655" y="237364"/>
            <a:ext cx="3159205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Hyperparameter Tuning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05045F-3ED0-F456-E0CE-F5CDFB301320}"/>
              </a:ext>
            </a:extLst>
          </p:cNvPr>
          <p:cNvSpPr/>
          <p:nvPr/>
        </p:nvSpPr>
        <p:spPr>
          <a:xfrm>
            <a:off x="3584064" y="237364"/>
            <a:ext cx="4856854" cy="1322364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Testing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C90846-B24B-CBB4-ED56-EB70DB3F2031}"/>
              </a:ext>
            </a:extLst>
          </p:cNvPr>
          <p:cNvSpPr/>
          <p:nvPr/>
        </p:nvSpPr>
        <p:spPr>
          <a:xfrm>
            <a:off x="8607938" y="237365"/>
            <a:ext cx="3159205" cy="1322363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 of Results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70D71DE3-47F9-ADED-C257-C02904E9A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57" y="1937760"/>
            <a:ext cx="5582834" cy="4141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8CE7D44-DC33-7847-4E4A-90376720ED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399" y="1937760"/>
            <a:ext cx="5090572" cy="41437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012599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4A4D7-F4CD-2C99-728A-9A4CBD1C1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6C0F84-2039-EF02-AA47-308400FBD691}"/>
              </a:ext>
            </a:extLst>
          </p:cNvPr>
          <p:cNvSpPr/>
          <p:nvPr/>
        </p:nvSpPr>
        <p:spPr>
          <a:xfrm>
            <a:off x="0" y="-1959430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00A8F06-9EE5-7F37-6ECB-C1FDD90297A2}"/>
              </a:ext>
            </a:extLst>
          </p:cNvPr>
          <p:cNvSpPr txBox="1">
            <a:spLocks/>
          </p:cNvSpPr>
          <p:nvPr/>
        </p:nvSpPr>
        <p:spPr>
          <a:xfrm>
            <a:off x="-499403" y="-3226006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Random Forest Classifier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423B5C-E9BF-4B75-FCCE-A93E4BD597D1}"/>
              </a:ext>
            </a:extLst>
          </p:cNvPr>
          <p:cNvSpPr/>
          <p:nvPr/>
        </p:nvSpPr>
        <p:spPr>
          <a:xfrm>
            <a:off x="189655" y="237364"/>
            <a:ext cx="3159205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Hyperparameter Tuning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4E5F45-EFF1-8BE5-DD16-0B9B3968CF2D}"/>
              </a:ext>
            </a:extLst>
          </p:cNvPr>
          <p:cNvSpPr/>
          <p:nvPr/>
        </p:nvSpPr>
        <p:spPr>
          <a:xfrm>
            <a:off x="3584064" y="237364"/>
            <a:ext cx="3159205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Testing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F510D1-0162-2709-8249-88B78BE4B439}"/>
              </a:ext>
            </a:extLst>
          </p:cNvPr>
          <p:cNvSpPr/>
          <p:nvPr/>
        </p:nvSpPr>
        <p:spPr>
          <a:xfrm>
            <a:off x="6978474" y="237365"/>
            <a:ext cx="4788670" cy="1322363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 of Results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AE3B7B1-551D-01EF-70E0-223C3A4C01A7}"/>
              </a:ext>
            </a:extLst>
          </p:cNvPr>
          <p:cNvSpPr/>
          <p:nvPr/>
        </p:nvSpPr>
        <p:spPr>
          <a:xfrm>
            <a:off x="317404" y="1799771"/>
            <a:ext cx="11449740" cy="4820864"/>
          </a:xfrm>
          <a:prstGeom prst="roundRect">
            <a:avLst/>
          </a:prstGeom>
          <a:gradFill>
            <a:gsLst>
              <a:gs pos="5000">
                <a:srgbClr val="B71F3C">
                  <a:alpha val="21000"/>
                </a:srgbClr>
              </a:gs>
              <a:gs pos="100000">
                <a:srgbClr val="FF8C1A">
                  <a:alpha val="13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SVM performed best overall, strong on angry, calm, sad, surprise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Random Forest &amp; deep learning had lower accuracy (47.5% &amp; 42.6%)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Deep learning struggled with class imbalance but can improve with more data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SVM: highest macro-F1 &amp; UAR, fast and consistent</a:t>
            </a:r>
          </a:p>
        </p:txBody>
      </p:sp>
    </p:spTree>
    <p:extLst>
      <p:ext uri="{BB962C8B-B14F-4D97-AF65-F5344CB8AC3E}">
        <p14:creationId xmlns:p14="http://schemas.microsoft.com/office/powerpoint/2010/main" val="29527366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7A554-65A9-B5F2-5F0B-9A9E0A408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73369D-A781-D3D4-9719-C1FECEDAB6D2}"/>
              </a:ext>
            </a:extLst>
          </p:cNvPr>
          <p:cNvSpPr/>
          <p:nvPr/>
        </p:nvSpPr>
        <p:spPr>
          <a:xfrm>
            <a:off x="0" y="-1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B7B0C756-D848-D987-78CB-72D937005950}"/>
              </a:ext>
            </a:extLst>
          </p:cNvPr>
          <p:cNvSpPr txBox="1">
            <a:spLocks/>
          </p:cNvSpPr>
          <p:nvPr/>
        </p:nvSpPr>
        <p:spPr>
          <a:xfrm>
            <a:off x="-499403" y="-1266577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Support Vector Machine (SVM)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01B222-842A-A8BF-4A77-A8852404C55D}"/>
              </a:ext>
            </a:extLst>
          </p:cNvPr>
          <p:cNvSpPr/>
          <p:nvPr/>
        </p:nvSpPr>
        <p:spPr>
          <a:xfrm>
            <a:off x="2613540" y="1944763"/>
            <a:ext cx="3159205" cy="1322364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Hyperparameter Tuning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147ACE-0447-694C-0B36-7EC13A3D1FC3}"/>
              </a:ext>
            </a:extLst>
          </p:cNvPr>
          <p:cNvSpPr/>
          <p:nvPr/>
        </p:nvSpPr>
        <p:spPr>
          <a:xfrm>
            <a:off x="6379478" y="1944762"/>
            <a:ext cx="3159205" cy="1322364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 Training and Testing Performance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8B0881-ECDE-DE01-4632-799CE3E80539}"/>
              </a:ext>
            </a:extLst>
          </p:cNvPr>
          <p:cNvSpPr/>
          <p:nvPr/>
        </p:nvSpPr>
        <p:spPr>
          <a:xfrm>
            <a:off x="2613540" y="3590872"/>
            <a:ext cx="3159205" cy="1322365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03AAA8-A359-8F6C-076A-08FC9E1701F8}"/>
              </a:ext>
            </a:extLst>
          </p:cNvPr>
          <p:cNvSpPr/>
          <p:nvPr/>
        </p:nvSpPr>
        <p:spPr>
          <a:xfrm>
            <a:off x="6379477" y="3590872"/>
            <a:ext cx="3159206" cy="1322363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 of Results</a:t>
            </a:r>
            <a:endParaRPr lang="en-US" sz="2800" dirty="0">
              <a:latin typeface="Expo Book SSi" panose="020B08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7128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540C7-C7EF-C686-02C4-8AF63A68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448B59-34C7-AB1E-23CE-8F2CB7601314}"/>
              </a:ext>
            </a:extLst>
          </p:cNvPr>
          <p:cNvSpPr/>
          <p:nvPr/>
        </p:nvSpPr>
        <p:spPr>
          <a:xfrm>
            <a:off x="0" y="-1524000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D681CFA-A82C-90B6-F7E9-4F2036194813}"/>
              </a:ext>
            </a:extLst>
          </p:cNvPr>
          <p:cNvSpPr txBox="1">
            <a:spLocks/>
          </p:cNvSpPr>
          <p:nvPr/>
        </p:nvSpPr>
        <p:spPr>
          <a:xfrm>
            <a:off x="-499403" y="-2790576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Long Short-Term Memory (LSTM)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6887D82B-8028-A153-6F4F-D28364C54209}"/>
              </a:ext>
            </a:extLst>
          </p:cNvPr>
          <p:cNvSpPr txBox="1">
            <a:spLocks/>
          </p:cNvSpPr>
          <p:nvPr/>
        </p:nvSpPr>
        <p:spPr>
          <a:xfrm>
            <a:off x="-8971179" y="1848901"/>
            <a:ext cx="8542039" cy="3382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Captures Spatial Patterns in features.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Performed well on angry, sad.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Weak on subtle classes: Fear, Surprise, Disgust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77CB5A5-CFFF-BE92-844A-D16DEA6E5EAB}"/>
              </a:ext>
            </a:extLst>
          </p:cNvPr>
          <p:cNvSpPr/>
          <p:nvPr/>
        </p:nvSpPr>
        <p:spPr>
          <a:xfrm>
            <a:off x="0" y="142179"/>
            <a:ext cx="3672114" cy="1739469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Hyperparameter Tuning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EBEB1CF-69A7-75A8-C08B-E78F9798636F}"/>
              </a:ext>
            </a:extLst>
          </p:cNvPr>
          <p:cNvSpPr/>
          <p:nvPr/>
        </p:nvSpPr>
        <p:spPr>
          <a:xfrm>
            <a:off x="0" y="2106637"/>
            <a:ext cx="3159205" cy="1322363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F40037-BEEB-FFFF-2A24-882728C46FF9}"/>
              </a:ext>
            </a:extLst>
          </p:cNvPr>
          <p:cNvSpPr/>
          <p:nvPr/>
        </p:nvSpPr>
        <p:spPr>
          <a:xfrm>
            <a:off x="0" y="3653989"/>
            <a:ext cx="3159204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06A37B-F74D-34E6-9A07-651E5A26FC66}"/>
              </a:ext>
            </a:extLst>
          </p:cNvPr>
          <p:cNvSpPr/>
          <p:nvPr/>
        </p:nvSpPr>
        <p:spPr>
          <a:xfrm>
            <a:off x="-1" y="5231229"/>
            <a:ext cx="3159205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 of Results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6AF913-BB6D-36E1-59A3-1A4BDF2B43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1254" y="1228926"/>
            <a:ext cx="7266640" cy="26363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5B9C55-D1A5-9BA8-A186-DAEA3AF3A8D5}"/>
              </a:ext>
            </a:extLst>
          </p:cNvPr>
          <p:cNvSpPr txBox="1"/>
          <p:nvPr/>
        </p:nvSpPr>
        <p:spPr>
          <a:xfrm>
            <a:off x="3849494" y="4315171"/>
            <a:ext cx="7518400" cy="1702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RBF kernel with moderate regularization improved sadness &amp; disgust; some overlap remains for angry/happy/fear</a:t>
            </a:r>
          </a:p>
        </p:txBody>
      </p:sp>
    </p:spTree>
    <p:extLst>
      <p:ext uri="{BB962C8B-B14F-4D97-AF65-F5344CB8AC3E}">
        <p14:creationId xmlns:p14="http://schemas.microsoft.com/office/powerpoint/2010/main" val="17795007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B172E-84E1-CF15-C15F-8CBD46505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72B9C0-1605-DC99-AF61-7D62E12C3060}"/>
              </a:ext>
            </a:extLst>
          </p:cNvPr>
          <p:cNvSpPr/>
          <p:nvPr/>
        </p:nvSpPr>
        <p:spPr>
          <a:xfrm>
            <a:off x="0" y="-1524000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D6FEB0E2-2990-3C65-2C6B-5D0285CAD3A1}"/>
              </a:ext>
            </a:extLst>
          </p:cNvPr>
          <p:cNvSpPr txBox="1">
            <a:spLocks/>
          </p:cNvSpPr>
          <p:nvPr/>
        </p:nvSpPr>
        <p:spPr>
          <a:xfrm>
            <a:off x="-499403" y="-2790576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Long Short-Term Memory (LSTM)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9C4153D-DFE2-5588-320F-D9A4C24A52F0}"/>
              </a:ext>
            </a:extLst>
          </p:cNvPr>
          <p:cNvSpPr txBox="1">
            <a:spLocks/>
          </p:cNvSpPr>
          <p:nvPr/>
        </p:nvSpPr>
        <p:spPr>
          <a:xfrm>
            <a:off x="-8971179" y="1848901"/>
            <a:ext cx="8542039" cy="3382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Captures Spatial Patterns in features.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Performed well on angry, sad.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Weak on subtle classes: Fear, Surprise, Disgust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053F92C-70BB-0994-D0E1-E97514A5C106}"/>
              </a:ext>
            </a:extLst>
          </p:cNvPr>
          <p:cNvSpPr/>
          <p:nvPr/>
        </p:nvSpPr>
        <p:spPr>
          <a:xfrm>
            <a:off x="-3468915" y="345123"/>
            <a:ext cx="3159204" cy="1316393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Hyperparameter Tuning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2BDEB9-200C-6274-DE63-7C17A13CF9E0}"/>
              </a:ext>
            </a:extLst>
          </p:cNvPr>
          <p:cNvSpPr/>
          <p:nvPr/>
        </p:nvSpPr>
        <p:spPr>
          <a:xfrm>
            <a:off x="2227943" y="268802"/>
            <a:ext cx="7736114" cy="1580099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A1D9DC-5FD7-D45C-632D-9ABA51C8C37D}"/>
              </a:ext>
            </a:extLst>
          </p:cNvPr>
          <p:cNvSpPr/>
          <p:nvPr/>
        </p:nvSpPr>
        <p:spPr>
          <a:xfrm>
            <a:off x="-3468915" y="3540065"/>
            <a:ext cx="3159204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CFAB03-70EA-26D6-3A54-E98EB754885D}"/>
              </a:ext>
            </a:extLst>
          </p:cNvPr>
          <p:cNvSpPr/>
          <p:nvPr/>
        </p:nvSpPr>
        <p:spPr>
          <a:xfrm>
            <a:off x="-3468915" y="5407442"/>
            <a:ext cx="3159205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 of Results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C6611C2C-82EC-D705-CDDD-2B7C9DC18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14" y="1985388"/>
            <a:ext cx="10825172" cy="2602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1E02E9-20F0-06B4-FDE5-9FC1EA6C88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279"/>
          <a:stretch>
            <a:fillRect/>
          </a:stretch>
        </p:blipFill>
        <p:spPr bwMode="auto">
          <a:xfrm>
            <a:off x="683414" y="4723961"/>
            <a:ext cx="10825172" cy="20058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8006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B3406-0AB2-2EC4-F903-D3893F17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2316A9-DD84-DF44-0FB5-1AD4873FF44E}"/>
              </a:ext>
            </a:extLst>
          </p:cNvPr>
          <p:cNvSpPr/>
          <p:nvPr/>
        </p:nvSpPr>
        <p:spPr>
          <a:xfrm>
            <a:off x="0" y="-1524000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A2C5C6F-71BC-7362-47A0-4BA27979E901}"/>
              </a:ext>
            </a:extLst>
          </p:cNvPr>
          <p:cNvSpPr txBox="1">
            <a:spLocks/>
          </p:cNvSpPr>
          <p:nvPr/>
        </p:nvSpPr>
        <p:spPr>
          <a:xfrm>
            <a:off x="-499403" y="-2790576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Long Short-Term Memory (LSTM)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14D01A5-62E4-F3D3-D505-46BF4DFFDCC3}"/>
              </a:ext>
            </a:extLst>
          </p:cNvPr>
          <p:cNvSpPr/>
          <p:nvPr/>
        </p:nvSpPr>
        <p:spPr>
          <a:xfrm>
            <a:off x="-1" y="331169"/>
            <a:ext cx="3159204" cy="1316393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Hyperparameter Tuning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067C1D-FEAB-AA19-F18C-A1EB6D1F9DA3}"/>
              </a:ext>
            </a:extLst>
          </p:cNvPr>
          <p:cNvSpPr/>
          <p:nvPr/>
        </p:nvSpPr>
        <p:spPr>
          <a:xfrm>
            <a:off x="0" y="1902438"/>
            <a:ext cx="3159203" cy="131639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1F67F0-B8C4-724D-ACE2-BB55F3EB90D5}"/>
              </a:ext>
            </a:extLst>
          </p:cNvPr>
          <p:cNvSpPr/>
          <p:nvPr/>
        </p:nvSpPr>
        <p:spPr>
          <a:xfrm>
            <a:off x="0" y="3472939"/>
            <a:ext cx="3512458" cy="1504182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9C3E52-CAFF-F9C7-5220-888D6C9B34FA}"/>
              </a:ext>
            </a:extLst>
          </p:cNvPr>
          <p:cNvSpPr/>
          <p:nvPr/>
        </p:nvSpPr>
        <p:spPr>
          <a:xfrm>
            <a:off x="-1" y="5231229"/>
            <a:ext cx="3159205" cy="132236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 of Results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84B5A6-2BC8-D4B5-223A-B00B4BCE7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0218" y="317788"/>
            <a:ext cx="7073305" cy="62224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80668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A48EA-E408-0F10-352A-F9306D1FE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8EC525-312F-73B8-BC40-A4FBE2A0A413}"/>
              </a:ext>
            </a:extLst>
          </p:cNvPr>
          <p:cNvSpPr/>
          <p:nvPr/>
        </p:nvSpPr>
        <p:spPr>
          <a:xfrm>
            <a:off x="0" y="-1524000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5155A37-D6A1-64DD-C232-EB1FB0CAAE57}"/>
              </a:ext>
            </a:extLst>
          </p:cNvPr>
          <p:cNvSpPr txBox="1">
            <a:spLocks/>
          </p:cNvSpPr>
          <p:nvPr/>
        </p:nvSpPr>
        <p:spPr>
          <a:xfrm>
            <a:off x="-499403" y="-2790576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Long Short-Term Memory (LSTM)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223F57C6-8227-8B71-7619-8B430FE36452}"/>
              </a:ext>
            </a:extLst>
          </p:cNvPr>
          <p:cNvSpPr txBox="1">
            <a:spLocks/>
          </p:cNvSpPr>
          <p:nvPr/>
        </p:nvSpPr>
        <p:spPr>
          <a:xfrm>
            <a:off x="-8971179" y="1848901"/>
            <a:ext cx="8542039" cy="3382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Captures Spatial Patterns in features.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Performed well on angry, sad.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Weak on subtle classes: Fear, Surprise, Disgust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CBBE5F-0F79-3D19-F6F0-D6824D552B3B}"/>
              </a:ext>
            </a:extLst>
          </p:cNvPr>
          <p:cNvSpPr/>
          <p:nvPr/>
        </p:nvSpPr>
        <p:spPr>
          <a:xfrm>
            <a:off x="-3715660" y="331169"/>
            <a:ext cx="3159204" cy="1316393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Hyperparameter Tuning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47F389-1899-DEE3-83A1-7C03FD1FA4DF}"/>
              </a:ext>
            </a:extLst>
          </p:cNvPr>
          <p:cNvSpPr/>
          <p:nvPr/>
        </p:nvSpPr>
        <p:spPr>
          <a:xfrm>
            <a:off x="-3715659" y="1902438"/>
            <a:ext cx="3159203" cy="131639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FD6F00B-0FE3-1BAC-329B-55DDDE283F9F}"/>
              </a:ext>
            </a:extLst>
          </p:cNvPr>
          <p:cNvSpPr/>
          <p:nvPr/>
        </p:nvSpPr>
        <p:spPr>
          <a:xfrm>
            <a:off x="-3715659" y="3472939"/>
            <a:ext cx="3159203" cy="131639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74105A-3110-629F-8C80-A0970F0FB101}"/>
              </a:ext>
            </a:extLst>
          </p:cNvPr>
          <p:cNvSpPr/>
          <p:nvPr/>
        </p:nvSpPr>
        <p:spPr>
          <a:xfrm>
            <a:off x="1146627" y="194570"/>
            <a:ext cx="9869715" cy="1589589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 of Results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797218-CDB3-CE9A-1C8B-7C7D405B03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54" y="2470093"/>
            <a:ext cx="11071528" cy="4193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3641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1493A-8C1A-68CD-64AF-E67251906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B07919-FBC2-B605-E74D-676C48869976}"/>
              </a:ext>
            </a:extLst>
          </p:cNvPr>
          <p:cNvSpPr/>
          <p:nvPr/>
        </p:nvSpPr>
        <p:spPr>
          <a:xfrm>
            <a:off x="0" y="-1524000"/>
            <a:ext cx="12192000" cy="1322363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1C1DD83-BB52-5B8C-03AB-ED030AFFDD38}"/>
              </a:ext>
            </a:extLst>
          </p:cNvPr>
          <p:cNvSpPr txBox="1">
            <a:spLocks/>
          </p:cNvSpPr>
          <p:nvPr/>
        </p:nvSpPr>
        <p:spPr>
          <a:xfrm>
            <a:off x="-499403" y="-2790576"/>
            <a:ext cx="1319080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bg1"/>
                </a:solidFill>
                <a:latin typeface="Expo Book SSi" panose="020B0800000000000000" pitchFamily="34" charset="0"/>
              </a:rPr>
              <a:t>Long Short-Term Memory (LSTM)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5B89DC1F-7BA9-D97B-C564-D1FE1415D6D9}"/>
              </a:ext>
            </a:extLst>
          </p:cNvPr>
          <p:cNvSpPr txBox="1">
            <a:spLocks/>
          </p:cNvSpPr>
          <p:nvPr/>
        </p:nvSpPr>
        <p:spPr>
          <a:xfrm>
            <a:off x="-8971179" y="1848901"/>
            <a:ext cx="8542039" cy="3382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Captures Spatial Patterns in features.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Performed well on angry, sad.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Weak on subtle classes: Fear, Surprise, Disgust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4000FB-F742-1CBE-ABE7-48DB34B6EF17}"/>
              </a:ext>
            </a:extLst>
          </p:cNvPr>
          <p:cNvSpPr/>
          <p:nvPr/>
        </p:nvSpPr>
        <p:spPr>
          <a:xfrm>
            <a:off x="-3715660" y="331169"/>
            <a:ext cx="3159204" cy="1316393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Hyperparameter Tuning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E5A53D-E3E9-5AE3-DFE3-4BD312F64AF5}"/>
              </a:ext>
            </a:extLst>
          </p:cNvPr>
          <p:cNvSpPr/>
          <p:nvPr/>
        </p:nvSpPr>
        <p:spPr>
          <a:xfrm>
            <a:off x="-3715659" y="1902438"/>
            <a:ext cx="3159203" cy="131639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Training and Validation Performance 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8CF342-1B02-A442-8926-47DF01C7C6ED}"/>
              </a:ext>
            </a:extLst>
          </p:cNvPr>
          <p:cNvSpPr/>
          <p:nvPr/>
        </p:nvSpPr>
        <p:spPr>
          <a:xfrm>
            <a:off x="-3715659" y="3472939"/>
            <a:ext cx="3159203" cy="1316394"/>
          </a:xfrm>
          <a:prstGeom prst="roundRect">
            <a:avLst/>
          </a:prstGeom>
          <a:gradFill flip="none" rotWithShape="1">
            <a:gsLst>
              <a:gs pos="0">
                <a:srgbClr val="F2B4C0"/>
              </a:gs>
              <a:gs pos="100000">
                <a:srgbClr val="FFDBB7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Confusion Matrix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05D201-1BEC-748E-70C2-0ADBCC55F089}"/>
              </a:ext>
            </a:extLst>
          </p:cNvPr>
          <p:cNvSpPr/>
          <p:nvPr/>
        </p:nvSpPr>
        <p:spPr>
          <a:xfrm>
            <a:off x="1146627" y="194570"/>
            <a:ext cx="9869715" cy="1589589"/>
          </a:xfrm>
          <a:prstGeom prst="roundRect">
            <a:avLst/>
          </a:prstGeom>
          <a:gradFill flip="none" rotWithShape="1">
            <a:gsLst>
              <a:gs pos="0">
                <a:srgbClr val="C22F3C"/>
              </a:gs>
              <a:gs pos="100000">
                <a:srgbClr val="FF8B1E"/>
              </a:gs>
            </a:gsLst>
            <a:lin ang="18900000" scaled="1"/>
            <a:tileRect/>
          </a:gradFill>
          <a:ln>
            <a:gradFill>
              <a:gsLst>
                <a:gs pos="0">
                  <a:srgbClr val="B71F3C"/>
                </a:gs>
                <a:gs pos="100000">
                  <a:srgbClr val="FF8C1A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Expo Book SSi" panose="020B0800000000000000" pitchFamily="34" charset="0"/>
              </a:rPr>
              <a:t>Summary of Results</a:t>
            </a:r>
            <a:endParaRPr lang="en-US" sz="2800" dirty="0">
              <a:latin typeface="Expo Book SSi" panose="020B0800000000000000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17F49C-B424-739D-1BD5-B72D125121FD}"/>
              </a:ext>
            </a:extLst>
          </p:cNvPr>
          <p:cNvSpPr/>
          <p:nvPr/>
        </p:nvSpPr>
        <p:spPr>
          <a:xfrm>
            <a:off x="188687" y="2340019"/>
            <a:ext cx="5115242" cy="3668892"/>
          </a:xfrm>
          <a:prstGeom prst="roundRect">
            <a:avLst/>
          </a:prstGeom>
          <a:gradFill>
            <a:gsLst>
              <a:gs pos="0">
                <a:srgbClr val="B71F3C">
                  <a:alpha val="12000"/>
                </a:srgbClr>
              </a:gs>
              <a:gs pos="100000">
                <a:srgbClr val="FF8C1A">
                  <a:alpha val="13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CEF25B-9989-0D54-EDE2-8B0941A7AE8A}"/>
              </a:ext>
            </a:extLst>
          </p:cNvPr>
          <p:cNvSpPr txBox="1"/>
          <p:nvPr/>
        </p:nvSpPr>
        <p:spPr>
          <a:xfrm>
            <a:off x="385597" y="2514471"/>
            <a:ext cx="4984690" cy="3364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Expo Book SSi" panose="020B0800000000000000" pitchFamily="34" charset="0"/>
              </a:rPr>
              <a:t>SVM – Best Model: Excels on distinct emotions (sad, disgust); struggles with overlapping or subtle/underrepresented emotions (anger, fear, happy, boredom, calm, surprise)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4AE638-9F15-8C20-2D61-2F80DDBB20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756" y="2180366"/>
            <a:ext cx="5617154" cy="41478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547225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751D7-7D9D-0CBC-ECA0-301C2135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598A5E-B818-661E-DFB2-D5CD87426A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E34BA2F-4C42-7BEA-D6DA-077C61553077}"/>
              </a:ext>
            </a:extLst>
          </p:cNvPr>
          <p:cNvSpPr txBox="1">
            <a:spLocks/>
          </p:cNvSpPr>
          <p:nvPr/>
        </p:nvSpPr>
        <p:spPr>
          <a:xfrm>
            <a:off x="1012874" y="-238760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Introduction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3AE4821-E81C-4FDD-1CC9-3A7D831FE943}"/>
              </a:ext>
            </a:extLst>
          </p:cNvPr>
          <p:cNvSpPr txBox="1">
            <a:spLocks/>
          </p:cNvSpPr>
          <p:nvPr/>
        </p:nvSpPr>
        <p:spPr>
          <a:xfrm>
            <a:off x="1012874" y="1527227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Model Demonstration</a:t>
            </a:r>
          </a:p>
        </p:txBody>
      </p:sp>
    </p:spTree>
    <p:extLst>
      <p:ext uri="{BB962C8B-B14F-4D97-AF65-F5344CB8AC3E}">
        <p14:creationId xmlns:p14="http://schemas.microsoft.com/office/powerpoint/2010/main" val="29293729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C6C95-BAD1-950A-2822-9D5161134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del demo">
            <a:hlinkClick r:id="" action="ppaction://media"/>
            <a:extLst>
              <a:ext uri="{FF2B5EF4-FFF2-40B4-BE49-F238E27FC236}">
                <a16:creationId xmlns:a16="http://schemas.microsoft.com/office/drawing/2014/main" id="{69A4678D-0330-8089-171D-09F921AE141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801858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0AD69E0-27F7-14F5-B851-7854EB7AC84B}"/>
              </a:ext>
            </a:extLst>
          </p:cNvPr>
          <p:cNvSpPr/>
          <p:nvPr/>
        </p:nvSpPr>
        <p:spPr>
          <a:xfrm>
            <a:off x="0" y="0"/>
            <a:ext cx="12192000" cy="1533378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9D1A152-C962-C4D9-E6B5-F8D182427A39}"/>
              </a:ext>
            </a:extLst>
          </p:cNvPr>
          <p:cNvSpPr txBox="1">
            <a:spLocks/>
          </p:cNvSpPr>
          <p:nvPr/>
        </p:nvSpPr>
        <p:spPr>
          <a:xfrm>
            <a:off x="1012874" y="-238760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Introduction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B004EAA-A598-C950-4CF7-3154C0B90115}"/>
              </a:ext>
            </a:extLst>
          </p:cNvPr>
          <p:cNvSpPr txBox="1">
            <a:spLocks/>
          </p:cNvSpPr>
          <p:nvPr/>
        </p:nvSpPr>
        <p:spPr>
          <a:xfrm>
            <a:off x="1012874" y="-1173771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Model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1335094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24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55998-9E4D-0075-D728-5C59B02B2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9FADE3-4B1E-318F-6098-A139DD019B13}"/>
              </a:ext>
            </a:extLst>
          </p:cNvPr>
          <p:cNvSpPr/>
          <p:nvPr/>
        </p:nvSpPr>
        <p:spPr>
          <a:xfrm>
            <a:off x="0" y="0"/>
            <a:ext cx="12192000" cy="1533378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48B37D5-D798-0418-4A00-D68F0DE2D3D0}"/>
              </a:ext>
            </a:extLst>
          </p:cNvPr>
          <p:cNvSpPr txBox="1">
            <a:spLocks/>
          </p:cNvSpPr>
          <p:nvPr/>
        </p:nvSpPr>
        <p:spPr>
          <a:xfrm>
            <a:off x="1012874" y="-238760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Introduction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BE455B9-EBCC-68F2-1FFF-867C0DEC6976}"/>
              </a:ext>
            </a:extLst>
          </p:cNvPr>
          <p:cNvSpPr txBox="1">
            <a:spLocks/>
          </p:cNvSpPr>
          <p:nvPr/>
        </p:nvSpPr>
        <p:spPr>
          <a:xfrm>
            <a:off x="1012874" y="-1173771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E02CC1-ED2A-6A23-6E4A-A73B0B411F07}"/>
              </a:ext>
            </a:extLst>
          </p:cNvPr>
          <p:cNvSpPr txBox="1"/>
          <p:nvPr/>
        </p:nvSpPr>
        <p:spPr>
          <a:xfrm>
            <a:off x="295421" y="2011680"/>
            <a:ext cx="11601158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Expo Book SSi" panose="020B0800000000000000" pitchFamily="34" charset="0"/>
              </a:rPr>
              <a:t>Burnwal, S. (2018). Speech emotion recognition. Kaggle. https://www.kaggle.com/code/shivamburnwal/speech-emotion-recognition</a:t>
            </a:r>
          </a:p>
          <a:p>
            <a:r>
              <a:rPr lang="en-US" sz="1400" dirty="0">
                <a:latin typeface="Expo Book SSi" panose="020B0800000000000000" pitchFamily="34" charset="0"/>
              </a:rPr>
              <a:t>Dincer, B. (2021). Emotional speech recognition / AUDIO PROCESS / ALL. Kaggle. https://www.kaggle.com/code/brsdincer/emotional-speech-recognition-audio-process-all</a:t>
            </a:r>
          </a:p>
          <a:p>
            <a:r>
              <a:rPr lang="en-US" sz="1400" dirty="0">
                <a:latin typeface="Expo Book SSi" panose="020B0800000000000000" pitchFamily="34" charset="0"/>
              </a:rPr>
              <a:t>University of South California. (2004) IEMOCAP Database. https://sail.usc.edu/iemocap/</a:t>
            </a:r>
          </a:p>
          <a:p>
            <a:endParaRPr lang="en-US" sz="1400" dirty="0">
              <a:latin typeface="Expo Book SSi" panose="020B0800000000000000" pitchFamily="34" charset="0"/>
            </a:endParaRPr>
          </a:p>
          <a:p>
            <a:r>
              <a:rPr lang="en-US" sz="1400" dirty="0">
                <a:latin typeface="Expo Book SSi" panose="020B0800000000000000" pitchFamily="34" charset="0"/>
              </a:rPr>
              <a:t>PLOS One. (2018). RAVDESS Database, official paper. https://journals.plos.org/plosone/article?id=10.1371/journal.pone.0196391 </a:t>
            </a:r>
          </a:p>
          <a:p>
            <a:endParaRPr lang="en-US" sz="1400" dirty="0">
              <a:latin typeface="Expo Book SSi" panose="020B0800000000000000" pitchFamily="34" charset="0"/>
            </a:endParaRPr>
          </a:p>
          <a:p>
            <a:r>
              <a:rPr lang="en-US" sz="1400" dirty="0">
                <a:latin typeface="Expo Book SSi" panose="020B0800000000000000" pitchFamily="34" charset="0"/>
              </a:rPr>
              <a:t>NIH. (2015). CREMA-D database paper. https://pmc.ncbi.nlm.nih.gov/articles/PMC4313618/</a:t>
            </a:r>
          </a:p>
          <a:p>
            <a:endParaRPr lang="en-US" sz="1400" dirty="0">
              <a:latin typeface="Expo Book SSi" panose="020B0800000000000000" pitchFamily="34" charset="0"/>
            </a:endParaRPr>
          </a:p>
          <a:p>
            <a:r>
              <a:rPr lang="en-US" sz="1400" dirty="0">
                <a:latin typeface="Expo Book SSi" panose="020B0800000000000000" pitchFamily="34" charset="0"/>
              </a:rPr>
              <a:t>Kaggle. CREMA-D database. https://www.kaggle.com/datasets/ejlok1/cremad </a:t>
            </a:r>
          </a:p>
          <a:p>
            <a:endParaRPr lang="en-US" sz="1400" dirty="0">
              <a:latin typeface="Expo Book SSi" panose="020B0800000000000000" pitchFamily="34" charset="0"/>
            </a:endParaRPr>
          </a:p>
          <a:p>
            <a:r>
              <a:rPr lang="en-US" sz="1400" dirty="0">
                <a:latin typeface="Expo Book SSi" panose="020B0800000000000000" pitchFamily="34" charset="0"/>
              </a:rPr>
              <a:t>GitHub. (2018). CREMA-D </a:t>
            </a:r>
            <a:r>
              <a:rPr lang="en-US" sz="1400" dirty="0" err="1">
                <a:latin typeface="Expo Book SSi" panose="020B0800000000000000" pitchFamily="34" charset="0"/>
              </a:rPr>
              <a:t>Demographs</a:t>
            </a:r>
            <a:r>
              <a:rPr lang="en-US" sz="1400" dirty="0">
                <a:latin typeface="Expo Book SSi" panose="020B0800000000000000" pitchFamily="34" charset="0"/>
              </a:rPr>
              <a:t> dataset.  https://github.com/CheyneyComputerScience/CREMA-D/blob/master/VideoDemographics.csv</a:t>
            </a:r>
          </a:p>
          <a:p>
            <a:endParaRPr lang="en-US" sz="1400" dirty="0">
              <a:latin typeface="Expo Book SSi" panose="020B0800000000000000" pitchFamily="34" charset="0"/>
            </a:endParaRPr>
          </a:p>
          <a:p>
            <a:r>
              <a:rPr lang="en-US" sz="1400" dirty="0" err="1">
                <a:latin typeface="Expo Book SSi" panose="020B0800000000000000" pitchFamily="34" charset="0"/>
              </a:rPr>
              <a:t>Librosa</a:t>
            </a:r>
            <a:r>
              <a:rPr lang="en-US" sz="1400" dirty="0">
                <a:latin typeface="Expo Book SSi" panose="020B0800000000000000" pitchFamily="34" charset="0"/>
              </a:rPr>
              <a:t>. (2015). </a:t>
            </a:r>
            <a:r>
              <a:rPr lang="en-US" sz="1400" dirty="0" err="1">
                <a:latin typeface="Expo Book SSi" panose="020B0800000000000000" pitchFamily="34" charset="0"/>
              </a:rPr>
              <a:t>librosa</a:t>
            </a:r>
            <a:r>
              <a:rPr lang="en-US" sz="1400" dirty="0">
                <a:latin typeface="Expo Book SSi" panose="020B0800000000000000" pitchFamily="34" charset="0"/>
              </a:rPr>
              <a:t> docs. https://librosa.org</a:t>
            </a:r>
          </a:p>
          <a:p>
            <a:endParaRPr lang="en-US" sz="1400" dirty="0">
              <a:latin typeface="Expo Book SSi" panose="020B0800000000000000" pitchFamily="34" charset="0"/>
            </a:endParaRPr>
          </a:p>
          <a:p>
            <a:r>
              <a:rPr lang="en-US" sz="1400" dirty="0" err="1">
                <a:latin typeface="Expo Book SSi" panose="020B0800000000000000" pitchFamily="34" charset="0"/>
              </a:rPr>
              <a:t>OpenSmile</a:t>
            </a:r>
            <a:r>
              <a:rPr lang="en-US" sz="1400" dirty="0">
                <a:latin typeface="Expo Book SSi" panose="020B0800000000000000" pitchFamily="34" charset="0"/>
              </a:rPr>
              <a:t>. (2022). </a:t>
            </a:r>
            <a:r>
              <a:rPr lang="en-US" sz="1400" dirty="0" err="1">
                <a:latin typeface="Expo Book SSi" panose="020B0800000000000000" pitchFamily="34" charset="0"/>
              </a:rPr>
              <a:t>Opensmile</a:t>
            </a:r>
            <a:r>
              <a:rPr lang="en-US" sz="1400" dirty="0">
                <a:latin typeface="Expo Book SSi" panose="020B0800000000000000" pitchFamily="34" charset="0"/>
              </a:rPr>
              <a:t> doc. https://audeering.github.io/opensmile/</a:t>
            </a:r>
          </a:p>
          <a:p>
            <a:endParaRPr lang="en-US" sz="1400" dirty="0">
              <a:latin typeface="Expo Book SSi" panose="020B0800000000000000" pitchFamily="34" charset="0"/>
            </a:endParaRPr>
          </a:p>
          <a:p>
            <a:r>
              <a:rPr lang="en-US" sz="1400" dirty="0">
                <a:latin typeface="Expo Book SSi" panose="020B0800000000000000" pitchFamily="34" charset="0"/>
              </a:rPr>
              <a:t>OpenAI. (2025). ChatGPT (GPT-5) [Large language model]. https://chat.openai.com/</a:t>
            </a:r>
          </a:p>
          <a:p>
            <a:endParaRPr lang="en-US" sz="1400" dirty="0">
              <a:latin typeface="Expo Book SSi" panose="020B0800000000000000" pitchFamily="34" charset="0"/>
            </a:endParaRPr>
          </a:p>
          <a:p>
            <a:r>
              <a:rPr lang="en-US" sz="1400" dirty="0">
                <a:latin typeface="Expo Book SSi" panose="020B0800000000000000" pitchFamily="34" charset="0"/>
              </a:rPr>
              <a:t>Google. (2025). Gemini [Large language model]. https://gemini.google.com/</a:t>
            </a:r>
          </a:p>
        </p:txBody>
      </p:sp>
    </p:spTree>
    <p:extLst>
      <p:ext uri="{BB962C8B-B14F-4D97-AF65-F5344CB8AC3E}">
        <p14:creationId xmlns:p14="http://schemas.microsoft.com/office/powerpoint/2010/main" val="14092011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78C17-50AE-028D-7777-C38481961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F56D21-BAEF-E2A3-600E-33C208E587D6}"/>
              </a:ext>
            </a:extLst>
          </p:cNvPr>
          <p:cNvSpPr/>
          <p:nvPr/>
        </p:nvSpPr>
        <p:spPr>
          <a:xfrm>
            <a:off x="0" y="2293034"/>
            <a:ext cx="12192000" cy="1969477"/>
          </a:xfrm>
          <a:prstGeom prst="rect">
            <a:avLst/>
          </a:prstGeom>
          <a:gradFill flip="none" rotWithShape="1">
            <a:gsLst>
              <a:gs pos="0">
                <a:srgbClr val="B71F3C"/>
              </a:gs>
              <a:gs pos="100000">
                <a:srgbClr val="FF8C1A"/>
              </a:gs>
            </a:gsLst>
            <a:lin ang="0" scaled="1"/>
            <a:tileRect/>
          </a:gradFill>
          <a:ln>
            <a:noFill/>
          </a:ln>
          <a:effectLst>
            <a:glow rad="63500">
              <a:schemeClr val="accent2">
                <a:satMod val="175000"/>
                <a:alpha val="46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59F460-7AAF-237D-4907-4B9EB0BB5862}"/>
              </a:ext>
            </a:extLst>
          </p:cNvPr>
          <p:cNvSpPr txBox="1">
            <a:spLocks/>
          </p:cNvSpPr>
          <p:nvPr/>
        </p:nvSpPr>
        <p:spPr>
          <a:xfrm>
            <a:off x="1012874" y="-2387600"/>
            <a:ext cx="1016625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Expo Book SSi" panose="020B0800000000000000" pitchFamily="34" charset="0"/>
              </a:rPr>
              <a:t>Introduction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EFEB86A-6C77-FF46-0110-12DB376F946B}"/>
              </a:ext>
            </a:extLst>
          </p:cNvPr>
          <p:cNvSpPr txBox="1">
            <a:spLocks/>
          </p:cNvSpPr>
          <p:nvPr/>
        </p:nvSpPr>
        <p:spPr>
          <a:xfrm>
            <a:off x="644769" y="1653836"/>
            <a:ext cx="10902461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dirty="0">
                <a:solidFill>
                  <a:schemeClr val="bg1"/>
                </a:solidFill>
                <a:latin typeface="Expo Book SSi" panose="020B0800000000000000" pitchFamily="34" charset="0"/>
              </a:rPr>
              <a:t>Thank You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7807789-37CB-16AD-C0BB-8BEFD570E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3204" y="5575739"/>
            <a:ext cx="1676400" cy="381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FBDDB5-D5AA-9955-D113-0835700306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5083898"/>
            <a:ext cx="4271689" cy="9836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6366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2323</Words>
  <Application>Microsoft Office PowerPoint</Application>
  <PresentationFormat>Widescreen</PresentationFormat>
  <Paragraphs>487</Paragraphs>
  <Slides>57</Slides>
  <Notes>55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</vt:lpstr>
      <vt:lpstr>Calibri</vt:lpstr>
      <vt:lpstr>Calibri Light</vt:lpstr>
      <vt:lpstr>Expo Book SSi</vt:lpstr>
      <vt:lpstr>Office Theme</vt:lpstr>
      <vt:lpstr>Emotional Speech Detector</vt:lpstr>
      <vt:lpstr>Emotional Speech Detector</vt:lpstr>
      <vt:lpstr>Emotional Speech Detector</vt:lpstr>
      <vt:lpstr>Emotional Speech Detector</vt:lpstr>
      <vt:lpstr>Emotional Speech Detector</vt:lpstr>
      <vt:lpstr>Emotional Speech Detector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Mahdi M. Dagher</dc:creator>
  <cp:lastModifiedBy>Mahdi M. Dagher</cp:lastModifiedBy>
  <cp:revision>11</cp:revision>
  <dcterms:created xsi:type="dcterms:W3CDTF">2025-09-28T09:58:56Z</dcterms:created>
  <dcterms:modified xsi:type="dcterms:W3CDTF">2025-09-29T18:06:18Z</dcterms:modified>
</cp:coreProperties>
</file>